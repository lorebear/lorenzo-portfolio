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Absences (days)</c:v>
                </c:pt>
              </c:strCache>
            </c:strRef>
          </c:tx>
          <c:spPr>
            <a:solidFill>
              <a:srgbClr val="E55B4D"/>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E55B4D"/>
              </a:solidFill>
              <a:effectLst/>
            </c:spPr>
          </c:dPt>
          <c:dPt>
            <c:idx val="1"/>
            <c:invertIfNegative val="0"/>
            <c:bubble3D val="0"/>
            <c:spPr>
              <a:solidFill>
                <a:srgbClr val="028090"/>
              </a:solidFill>
              <a:effectLst/>
            </c:spPr>
          </c:dPt>
          <c:dPt>
            <c:idx val="2"/>
            <c:invertIfNegative val="0"/>
            <c:bubble3D val="0"/>
            <c:spPr>
              <a:solidFill>
                <a:srgbClr val="64748B"/>
              </a:solidFill>
              <a:effectLst/>
            </c:spPr>
          </c:dPt>
          <c:dPt>
            <c:idx val="3"/>
            <c:invertIfNegative val="0"/>
            <c:bubble3D val="0"/>
            <c:spPr>
              <a:solidFill>
                <a:srgbClr val="0D9488"/>
              </a:solidFill>
              <a:effectLst/>
            </c:spPr>
          </c:dPt>
          <c:cat>
            <c:multiLvlStrRef>
              <c:f>Sheet1!$A$2:$A$5</c:f>
              <c:multiLvlStrCache>
                <c:ptCount val="4"/>
                <c:lvl>
                  <c:pt idx="0">
                    <c:v>Needs Improvement</c:v>
                  </c:pt>
                  <c:pt idx="1">
                    <c:v>Exceeds</c:v>
                  </c:pt>
                  <c:pt idx="2">
                    <c:v>Fully Meets</c:v>
                  </c:pt>
                  <c:pt idx="3">
                    <c:v>PIP</c:v>
                  </c:pt>
                </c:lvl>
              </c:multiLvlStrCache>
            </c:multiLvlStrRef>
          </c:cat>
          <c:val>
            <c:numRef>
              <c:f>Sheet1!$B$2:$B$5</c:f>
              <c:numCache>
                <c:formatCode>General</c:formatCode>
                <c:ptCount val="4"/>
                <c:pt idx="0">
                  <c:v>11.33</c:v>
                </c:pt>
                <c:pt idx="1">
                  <c:v>10.49</c:v>
                </c:pt>
                <c:pt idx="2">
                  <c:v>10.22</c:v>
                </c:pt>
                <c:pt idx="3">
                  <c:v>8.31</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4"/>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FF9F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Attrition Rate (%)</c:v>
                </c:pt>
              </c:strCache>
            </c:strRef>
          </c:tx>
          <c:spPr>
            <a:solidFill>
              <a:srgbClr val="E55B4D"/>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E55B4D"/>
              </a:solidFill>
              <a:effectLst/>
            </c:spPr>
          </c:dPt>
          <c:dPt>
            <c:idx val="1"/>
            <c:invertIfNegative val="0"/>
            <c:bubble3D val="0"/>
            <c:spPr>
              <a:solidFill>
                <a:srgbClr val="E55B4D"/>
              </a:solidFill>
              <a:effectLst/>
            </c:spPr>
          </c:dPt>
          <c:dPt>
            <c:idx val="2"/>
            <c:invertIfNegative val="0"/>
            <c:bubble3D val="0"/>
            <c:spPr>
              <a:solidFill>
                <a:srgbClr val="F4A261"/>
              </a:solidFill>
              <a:effectLst/>
            </c:spPr>
          </c:dPt>
          <c:dPt>
            <c:idx val="3"/>
            <c:invertIfNegative val="0"/>
            <c:bubble3D val="0"/>
            <c:spPr>
              <a:solidFill>
                <a:srgbClr val="F4A261"/>
              </a:solidFill>
              <a:effectLst/>
            </c:spPr>
          </c:dPt>
          <c:dPt>
            <c:idx val="4"/>
            <c:invertIfNegative val="0"/>
            <c:bubble3D val="0"/>
            <c:spPr>
              <a:solidFill>
                <a:srgbClr val="C4A882"/>
              </a:solidFill>
              <a:effectLst/>
            </c:spPr>
          </c:dPt>
          <c:dPt>
            <c:idx val="5"/>
            <c:invertIfNegative val="0"/>
            <c:bubble3D val="0"/>
            <c:spPr>
              <a:solidFill>
                <a:srgbClr val="028090"/>
              </a:solidFill>
              <a:effectLst/>
            </c:spPr>
          </c:dPt>
          <c:cat>
            <c:multiLvlStrRef>
              <c:f>Sheet1!$A$2:$A$7</c:f>
              <c:multiLvlStrCache>
                <c:ptCount val="6"/>
                <c:lvl>
                  <c:pt idx="0">
                    <c:v>Amy Dunn</c:v>
                  </c:pt>
                  <c:pt idx="1">
                    <c:v>Webster Butler</c:v>
                  </c:pt>
                  <c:pt idx="2">
                    <c:v>Kissy Sullivan</c:v>
                  </c:pt>
                  <c:pt idx="3">
                    <c:v>Simon Roup</c:v>
                  </c:pt>
                  <c:pt idx="4">
                    <c:v>Michael Albert</c:v>
                  </c:pt>
                  <c:pt idx="5">
                    <c:v>Company avg</c:v>
                  </c:pt>
                </c:lvl>
              </c:multiLvlStrCache>
            </c:multiLvlStrRef>
          </c:cat>
          <c:val>
            <c:numRef>
              <c:f>Sheet1!$B$2:$B$7</c:f>
              <c:numCache>
                <c:formatCode>General</c:formatCode>
                <c:ptCount val="6"/>
                <c:pt idx="0">
                  <c:v>61.9</c:v>
                </c:pt>
                <c:pt idx="1">
                  <c:v>61.9</c:v>
                </c:pt>
                <c:pt idx="2">
                  <c:v>54.5</c:v>
                </c:pt>
                <c:pt idx="3">
                  <c:v>47.1</c:v>
                </c:pt>
                <c:pt idx="4">
                  <c:v>40.9</c:v>
                </c:pt>
                <c:pt idx="5">
                  <c:v>33.4</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8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FF9F8"/>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Number of Exits</c:v>
                </c:pt>
              </c:strCache>
            </c:strRef>
          </c:tx>
          <c:spPr>
            <a:solidFill>
              <a:srgbClr val="4A9BAA"/>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4A9BAA"/>
              </a:solidFill>
              <a:effectLst/>
            </c:spPr>
          </c:dPt>
          <c:dPt>
            <c:idx val="1"/>
            <c:invertIfNegative val="0"/>
            <c:bubble3D val="0"/>
            <c:spPr>
              <a:solidFill>
                <a:srgbClr val="E55B4D"/>
              </a:solidFill>
              <a:effectLst/>
            </c:spPr>
          </c:dPt>
          <c:dPt>
            <c:idx val="2"/>
            <c:invertIfNegative val="0"/>
            <c:bubble3D val="0"/>
            <c:spPr>
              <a:solidFill>
                <a:srgbClr val="F4A261"/>
              </a:solidFill>
              <a:effectLst/>
            </c:spPr>
          </c:dPt>
          <c:dPt>
            <c:idx val="3"/>
            <c:invertIfNegative val="0"/>
            <c:bubble3D val="0"/>
            <c:spPr>
              <a:solidFill>
                <a:srgbClr val="64748B"/>
              </a:solidFill>
              <a:effectLst/>
            </c:spPr>
          </c:dPt>
          <c:dPt>
            <c:idx val="4"/>
            <c:invertIfNegative val="0"/>
            <c:bubble3D val="0"/>
            <c:spPr>
              <a:solidFill>
                <a:srgbClr val="64748B"/>
              </a:solidFill>
              <a:effectLst/>
            </c:spPr>
          </c:dPt>
          <c:dPt>
            <c:idx val="5"/>
            <c:invertIfNegative val="0"/>
            <c:bubble3D val="0"/>
            <c:spPr>
              <a:solidFill>
                <a:srgbClr val="64748B"/>
              </a:solidFill>
              <a:effectLst/>
            </c:spPr>
          </c:dPt>
          <c:dPt>
            <c:idx val="6"/>
            <c:invertIfNegative val="0"/>
            <c:bubble3D val="0"/>
            <c:spPr>
              <a:solidFill>
                <a:srgbClr val="64748B"/>
              </a:solidFill>
              <a:effectLst/>
            </c:spPr>
          </c:dPt>
          <c:dPt>
            <c:idx val="7"/>
            <c:invertIfNegative val="0"/>
            <c:bubble3D val="0"/>
            <c:spPr>
              <a:solidFill>
                <a:srgbClr val="64748B"/>
              </a:solidFill>
              <a:effectLst/>
            </c:spPr>
          </c:dPt>
          <c:cat>
            <c:multiLvlStrRef>
              <c:f>Sheet1!$A$2:$A$9</c:f>
              <c:multiLvlStrCache>
                <c:ptCount val="8"/>
                <c:lvl>
                  <c:pt idx="0">
                    <c:v>Another position</c:v>
                  </c:pt>
                  <c:pt idx="1">
                    <c:v>Unhappy</c:v>
                  </c:pt>
                  <c:pt idx="2">
                    <c:v>More money</c:v>
                  </c:pt>
                  <c:pt idx="3">
                    <c:v>Career change</c:v>
                  </c:pt>
                  <c:pt idx="4">
                    <c:v>Hours</c:v>
                  </c:pt>
                  <c:pt idx="5">
                    <c:v>Attendance</c:v>
                  </c:pt>
                  <c:pt idx="6">
                    <c:v>Return to school</c:v>
                  </c:pt>
                  <c:pt idx="7">
                    <c:v>Relocation</c:v>
                  </c:pt>
                </c:lvl>
              </c:multiLvlStrCache>
            </c:multiLvlStrRef>
          </c:cat>
          <c:val>
            <c:numRef>
              <c:f>Sheet1!$B$2:$B$9</c:f>
              <c:numCache>
                <c:formatCode>General</c:formatCode>
                <c:ptCount val="8"/>
                <c:pt idx="0">
                  <c:v>20</c:v>
                </c:pt>
                <c:pt idx="1">
                  <c:v>14</c:v>
                </c:pt>
                <c:pt idx="2">
                  <c:v>11</c:v>
                </c:pt>
                <c:pt idx="3">
                  <c:v>9</c:v>
                </c:pt>
                <c:pt idx="4">
                  <c:v>8</c:v>
                </c:pt>
                <c:pt idx="5">
                  <c:v>7</c:v>
                </c:pt>
                <c:pt idx="6">
                  <c:v>5</c:v>
                </c:pt>
                <c:pt idx="7">
                  <c:v>5</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5"/>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EFF9F8"/>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Male avg salary</c:v>
                </c:pt>
              </c:strCache>
            </c:strRef>
          </c:tx>
          <c:spPr>
            <a:solidFill>
              <a:srgbClr val="1E2761"/>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IT/IS</c:v>
                  </c:pt>
                  <c:pt idx="1">
                    <c:v>Admin Offices</c:v>
                  </c:pt>
                  <c:pt idx="2">
                    <c:v>Production</c:v>
                  </c:pt>
                  <c:pt idx="3">
                    <c:v>Sales</c:v>
                  </c:pt>
                  <c:pt idx="4">
                    <c:v>Software Eng</c:v>
                  </c:pt>
                </c:lvl>
              </c:multiLvlStrCache>
            </c:multiLvlStrRef>
          </c:cat>
          <c:val>
            <c:numRef>
              <c:f>Sheet1!$B$2:$B$6</c:f>
              <c:numCache>
                <c:formatCode>General</c:formatCode>
                <c:ptCount val="5"/>
                <c:pt idx="0">
                  <c:v>99007</c:v>
                </c:pt>
                <c:pt idx="1">
                  <c:v>73523</c:v>
                </c:pt>
                <c:pt idx="2">
                  <c:v>60459</c:v>
                </c:pt>
                <c:pt idx="3">
                  <c:v>66291</c:v>
                </c:pt>
                <c:pt idx="4">
                  <c:v>92689</c:v>
                </c:pt>
              </c:numCache>
            </c:numRef>
          </c:val>
        </c:ser>
        <c:ser>
          <c:idx val="1"/>
          <c:order val="1"/>
          <c:tx>
            <c:strRef>
              <c:f>Sheet1!$C$1</c:f>
              <c:strCache>
                <c:ptCount val="1"/>
                <c:pt idx="0">
                  <c:v>Female avg salary</c:v>
                </c:pt>
              </c:strCache>
            </c:strRef>
          </c:tx>
          <c:spPr>
            <a:solidFill>
              <a:srgbClr val="028090"/>
            </a:solidFill>
            <a:effectLst/>
          </c:spPr>
          <c:invertIfNegative val="0"/>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IT/IS</c:v>
                  </c:pt>
                  <c:pt idx="1">
                    <c:v>Admin Offices</c:v>
                  </c:pt>
                  <c:pt idx="2">
                    <c:v>Production</c:v>
                  </c:pt>
                  <c:pt idx="3">
                    <c:v>Sales</c:v>
                  </c:pt>
                  <c:pt idx="4">
                    <c:v>Software Eng</c:v>
                  </c:pt>
                </c:lvl>
              </c:multiLvlStrCache>
            </c:multiLvlStrRef>
          </c:cat>
          <c:val>
            <c:numRef>
              <c:f>Sheet1!$C$2:$C$6</c:f>
              <c:numCache>
                <c:formatCode>General</c:formatCode>
                <c:ptCount val="5"/>
                <c:pt idx="0">
                  <c:v>94593</c:v>
                </c:pt>
                <c:pt idx="1">
                  <c:v>70926</c:v>
                </c:pt>
                <c:pt idx="2">
                  <c:v>59620</c:v>
                </c:pt>
                <c:pt idx="3">
                  <c:v>72017</c:v>
                </c:pt>
                <c:pt idx="4">
                  <c:v>96906</c:v>
                </c:pt>
              </c:numCache>
            </c:numRef>
          </c:val>
        </c:ser>
        <c:dLbls>
          <c:numFmt formatCode="#,##0" sourceLinked="0"/>
          <c:txPr>
            <a:bodyPr/>
            <a:lstStyle/>
            <a:p>
              <a:pPr>
                <a:defRPr b="0" i="0" strike="noStrike" sz="9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200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EFF9F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INTRODUZIONE
Questo progetto analizza un dataset HR reale di 311 dipendenti con un tasso di attrition del 33.4% — uno su tre ha lasciato l'organizzazione.
L'approccio è diverso da un report HR standard: combino la psicologia del lavoro con l'analisi statistica per identificare i pattern comportamentali che precedono l'uscita.
Tre paradossi emergono dai dati, e nessuno è intuitivo a prima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PANORAMICA
I tre numeri in alto raccontano il contesto: 311 dipendenti, 33% di attrition, tre paradossi.
Il 33% è alto — quasi doppio rispetto al dataset IBM. Significa che l'organizzazione ha un problema sistemico, non marginale.
I tre paradossi che ho identificato sono tutti contro-intuitivi: i migliori performer sono i più assenti, l'attrition è concentrata in due manager, e le dimissioni volontarie sono guidate più dall'infelicità che dal denaro.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EXECUTIVE SUMMARY
Quattro numeri che riassumono i finding principali:
62%: due manager specifici hanno più di 6 dipendenti su 10 che lasciano il loro team. Non è la media aziendale — è un problema localizzato e identificabile.
10.5 vs 8.3: i performer migliori sono più assenti di quelli peggiori. Questo è il segnale di burnout che nessun sistema HR tradizionale intercetta.
14 vs 11: "unhappy" batte "more money" come ragione di dimissione. Herzberg confermato dai dati.
0.51: la correlazione tra stipendio e special projects spiega il gender pay gap in IT/IS meglio di qualsiasi ipotesi di bias diretto.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PARADOX 1: ABSENCE PARADOX
Questo è il finding più contro-intuitivo. Normalmente pensiamo che le assenze siano un segnale di disengagement.
Ma quando incrociamo le assenze con le performance, emerge un pattern complesso: non è lineare.
PIP ha meno assenze di tutti: non perché siano più motivati, ma perché la vigilanza esterna sopprime il comportamento discrezionale.
Needs Improvement ha le assenze più alte (11.3): qui sì, disengagement classico.
Exceeds ha 10.5 giorni: ma in questo contesto è un segnale opposto. Maslach chiama questo "overextension without recovery". Il performer eccellente assorbe il carico organizzativo fino al limite — e usa i giorni di malattia come valvola di sfogo prima di dimettersi.
Il rischio: aspettare che la performance cali per intervenire. Ma quando cala, la decisione di andarsene è già 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PARADOX 2: MICRO-CLIMATE TOXICITY
La media aziendale è 33.4%. Ma nasconde una realtà molto diversa a livello di manager.
Amy Dunn e Webster Butler: 61.9% di attrition nei rispettivi team. Kissy Sullivan al 54.5%. Simon Roup al 47%.
Questo non è rumore statistico — è un segnale preciso e localizzabile.
Gallup (2015) ha dimostrato che i manager spiegano almeno il 70% della varianza nell'engagement. Non il 30%, non il 50% — il 70%.
Implicazione strategica: investire in un programma di retention aziendale mentre questi due team stanno implodendo è come mettere un cerotto su una ferita aperta.
L'intervento deve essere chirurgico: coaching comportamentale per i manager ad alto rischio, supportato da pulse survey mensili.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PARADOX 3: CULTURE OVER CASH
Il grafico mostra l'ordine delle ragioni di dimissione. "Another position" è prima con 20 casi. "Unhappy" è seconda con 14. "More money" è terza con 11.
Il punto chiave è la rilettura di "Another position". La maggior parte delle organizzazioni la registra come "persa alla concorrenza" e risponde con un'analisi salariale comparativa.
Ma secondo il Unfolding Model di Lee e Mitchell (1994), la sequenza è diversa: prima arriva l'infelicità — il deterioramento del contratto psicologico — poi arriva lo shock esterno (un'offerta, una conversazione, una notizia). L'"altra posizione" è la porta; l'infelicità è la ragione per cui quella porta era già aperta.
Se sommiamo "unhappy" (14) all'interpretazione corretta di "another position" (molti dei 20), la dissatisfazione culturale diventa il primo driver. Un aumento di stipendio non risolve un problema di clima.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GENDER PAY GAP
Il gender pay gap complessivo è 0.04 — apparentemente basso. Ma la disaggregazione per dipartimento rivela dinamiche opposte.
IT/IS: gli uomini guadagnano di più (€99k vs €94k in media). Software Engineering e Sales: le donne guadagnano di più.
Il dato più interessante è la correlazione 0.51 tra stipendio e SpecialProjectsCount. Questo significa che i progetti ad alta visibilità sono il principale predittore salariale — più dei titoli, più degli anni di esperienza.
Castilla (2008) ha chiamato questo "performance reward bias": le disparità non emergono dalla policy salariale, ma dal processo upstream di assegnazione delle opportunità.
L'intervento corretto non è aggiustare gli stipendi in IT/IS — è rendere trasparente e oggettivo il processo di assegnazione dei Special Projects. Chiudi il gap alla fonte.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FRAMEWORK A.B.E.
Ogni intervento deriva direttamente da un finding specifico — non sono raccomandazioni generiche.
A – Accountability: due manager, non l'azienda. Coaching comportamentale mirato, non programmi aziendali.
B – Burnout Shield: il trigger automatico è la chiave. Non aspettare che la performance cali. Quando vedi Exceeds + Absences &gt; 10, hai una finestra di intervento di poche settimane prima che la decisione sia presa.
E – Equity: non toccare gli stipendi in IT/IS — toccare il processo di assegnazione dei progetti. Costoso? No. Efficace? Sì, perché chiude il gap alla radice e non si ripresenta ogni anno.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BUSINESS IMPACT
Tre livelli di valore concreto:
Costo evitato: i due manager "Red Zone" sono la priorità numero uno. Ogni uscita ha un costo di sostituzione di 1.5x lo stipendio annuale. Risolvere quei due team significa proteggere il budget da un'ondata di replacement costs preventabile.
Protezione produttività: il Burnout Paradox è costoso in due modi: la persona lascia (costo diretto), ma prima di lasciare lavora a capacità ridotta per mesi (costo indiretto). L'early warning system intercetta questa fase.
Riposizionamento HR: il cambiamento più importante non è tattico ma strategico. HR smette di essere il reparto che conta le uscite e diventa il partner che prevede il rischio e quantifica il costo dell'inazione.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FUTURE SCOPE
Questa analisi risponde a "dove" e "perché". La prossima fase risponde a "quando".
Predictive modeling: assegnare un flight risk score a ogni dipendente attivo. Non aspettare la dimissione — sapere 3-6 mesi prima chi è a rischio.
NLP: le survey chiuse ci dicono "unhappy" ma non perché. Il testo libero delle exit interview direbbe se il problema è il manager, il carico di lavoro, la cultura, la carriera. Distinzioni che cambiano completamente il tipo di intervento.
ONA: i dipendenti socialmente isolati — pochi collegamenti nella rete di comunicazione interna — sono tra i più probabili a lasciare, anche quando le loro survey di engagement sembrano normali. Cross &amp; Parker (2004) hanno dimostrato che l'embeddedness sociale è un predittore di turnover più robusto dell'engagement dichiarato.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CLOSING
Il titolo riassume il cambio di paradigma: da reporting reattivo a diagnostica predittiva.
Non "quante persone sono uscite questo trimestre?" — ma "chi uscirà nei prossimi 90 giorni, e cosa possiamo fare adesso?"
Ogni numero di questa presentazione è stato verificato contro i dati grezzi. Ogni intervento deriva da un finding specifico. Ogni framework teorico è applicato al contesto concreto di questa organizzazione.
Questo è il valore dell'HR analytics con una lente psicologica: trasforma i dati in previsioni, e le previsioni in azioni.
Grazie — sono disponibile per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74A"/>
        </a:solidFill>
      </p:bgPr>
    </p:bg>
    <p:spTree>
      <p:nvGrpSpPr>
        <p:cNvPr id="1" name=""/>
        <p:cNvGrpSpPr/>
        <p:nvPr/>
      </p:nvGrpSpPr>
      <p:grpSpPr>
        <a:xfrm>
          <a:off x="0" y="0"/>
          <a:ext cx="0" cy="0"/>
          <a:chOff x="0" y="0"/>
          <a:chExt cx="0" cy="0"/>
        </a:xfrm>
      </p:grpSpPr>
      <p:sp>
        <p:nvSpPr>
          <p:cNvPr id="2" name="Shape 0"/>
          <p:cNvSpPr/>
          <p:nvPr/>
        </p:nvSpPr>
        <p:spPr>
          <a:xfrm>
            <a:off x="0" y="3566160"/>
            <a:ext cx="9144000" cy="1577340"/>
          </a:xfrm>
          <a:prstGeom prst="rect">
            <a:avLst/>
          </a:prstGeom>
          <a:solidFill>
            <a:srgbClr val="012030"/>
          </a:solidFill>
          <a:ln w="12700">
            <a:solidFill>
              <a:srgbClr val="012030"/>
            </a:solidFill>
            <a:prstDash val="solid"/>
          </a:ln>
        </p:spPr>
      </p:sp>
      <p:sp>
        <p:nvSpPr>
          <p:cNvPr id="3" name="Text 1"/>
          <p:cNvSpPr/>
          <p:nvPr/>
        </p:nvSpPr>
        <p:spPr>
          <a:xfrm>
            <a:off x="548640" y="594360"/>
            <a:ext cx="8046720" cy="82296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HR Behavioral Analytics</a:t>
            </a:r>
            <a:endParaRPr lang="en-US" sz="3800" dirty="0"/>
          </a:p>
        </p:txBody>
      </p:sp>
      <p:sp>
        <p:nvSpPr>
          <p:cNvPr id="4" name="Text 2"/>
          <p:cNvSpPr/>
          <p:nvPr/>
        </p:nvSpPr>
        <p:spPr>
          <a:xfrm>
            <a:off x="548640" y="1389888"/>
            <a:ext cx="8046720" cy="548640"/>
          </a:xfrm>
          <a:prstGeom prst="rect">
            <a:avLst/>
          </a:prstGeom>
          <a:noFill/>
          <a:ln/>
        </p:spPr>
        <p:txBody>
          <a:bodyPr wrap="square" rtlCol="0" anchor="ctr"/>
          <a:lstStyle/>
          <a:p>
            <a:pPr indent="0" marL="0">
              <a:buNone/>
            </a:pPr>
            <a:r>
              <a:rPr lang="en-US" sz="2200" i="1" dirty="0">
                <a:solidFill>
                  <a:srgbClr val="7EDED6"/>
                </a:solidFill>
                <a:latin typeface="Calibri" pitchFamily="34" charset="0"/>
                <a:ea typeface="Calibri" pitchFamily="34" charset="-122"/>
                <a:cs typeface="Calibri" pitchFamily="34" charset="-120"/>
              </a:rPr>
              <a:t>Decoding Turnover &amp; Burnout</a:t>
            </a:r>
            <a:endParaRPr lang="en-US" sz="2200" dirty="0"/>
          </a:p>
        </p:txBody>
      </p:sp>
      <p:sp>
        <p:nvSpPr>
          <p:cNvPr id="5" name="Shape 3"/>
          <p:cNvSpPr/>
          <p:nvPr/>
        </p:nvSpPr>
        <p:spPr>
          <a:xfrm>
            <a:off x="548640" y="2103120"/>
            <a:ext cx="1097280" cy="54864"/>
          </a:xfrm>
          <a:prstGeom prst="rect">
            <a:avLst/>
          </a:prstGeom>
          <a:solidFill>
            <a:srgbClr val="02C39A"/>
          </a:solidFill>
          <a:ln w="12700">
            <a:solidFill>
              <a:srgbClr val="02C39A"/>
            </a:solidFill>
            <a:prstDash val="solid"/>
          </a:ln>
        </p:spPr>
      </p:sp>
      <p:sp>
        <p:nvSpPr>
          <p:cNvPr id="6" name="Text 4"/>
          <p:cNvSpPr/>
          <p:nvPr/>
        </p:nvSpPr>
        <p:spPr>
          <a:xfrm>
            <a:off x="548640" y="3703320"/>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Lorenzo Di Salvatore</a:t>
            </a:r>
            <a:endParaRPr lang="en-US" sz="1400" dirty="0"/>
          </a:p>
        </p:txBody>
      </p:sp>
      <p:sp>
        <p:nvSpPr>
          <p:cNvPr id="7" name="Text 5"/>
          <p:cNvSpPr/>
          <p:nvPr/>
        </p:nvSpPr>
        <p:spPr>
          <a:xfrm>
            <a:off x="548640" y="4050792"/>
            <a:ext cx="7315200" cy="320040"/>
          </a:xfrm>
          <a:prstGeom prst="rect">
            <a:avLst/>
          </a:prstGeom>
          <a:noFill/>
          <a:ln/>
        </p:spPr>
        <p:txBody>
          <a:bodyPr wrap="square" rtlCol="0" anchor="ctr"/>
          <a:lstStyle/>
          <a:p>
            <a:pPr indent="0" marL="0">
              <a:buNone/>
            </a:pPr>
            <a:r>
              <a:rPr lang="en-US" sz="1100" dirty="0">
                <a:solidFill>
                  <a:srgbClr val="7EDED6"/>
                </a:solidFill>
                <a:latin typeface="Calibri" pitchFamily="34" charset="0"/>
                <a:ea typeface="Calibri" pitchFamily="34" charset="-122"/>
                <a:cs typeface="Calibri" pitchFamily="34" charset="-120"/>
              </a:rPr>
              <a:t>Work &amp; Organizational Psychology | HR Data Analytics Specialist</a:t>
            </a:r>
            <a:endParaRPr lang="en-US" sz="1100" dirty="0"/>
          </a:p>
        </p:txBody>
      </p:sp>
      <p:sp>
        <p:nvSpPr>
          <p:cNvPr id="8" name="Text 6"/>
          <p:cNvSpPr/>
          <p:nvPr/>
        </p:nvSpPr>
        <p:spPr>
          <a:xfrm>
            <a:off x="548640" y="4590288"/>
            <a:ext cx="8046720" cy="274320"/>
          </a:xfrm>
          <a:prstGeom prst="rect">
            <a:avLst/>
          </a:prstGeom>
          <a:noFill/>
          <a:ln/>
        </p:spPr>
        <p:txBody>
          <a:bodyPr wrap="square" rtlCol="0" anchor="ctr"/>
          <a:lstStyle/>
          <a:p>
            <a:pPr indent="0" marL="0">
              <a:buNone/>
            </a:pPr>
            <a:r>
              <a:rPr lang="en-US" sz="1000" dirty="0">
                <a:solidFill>
                  <a:srgbClr val="4A9BAA"/>
                </a:solidFill>
                <a:latin typeface="Calibri" pitchFamily="34" charset="0"/>
                <a:ea typeface="Calibri" pitchFamily="34" charset="-122"/>
                <a:cs typeface="Calibri" pitchFamily="34" charset="-120"/>
              </a:rPr>
              <a:t>Dataset: HR Dataset v14  ·  311 records  ·  36 variables  ·  Attrition rate: 33.4%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400" b="1" dirty="0">
                <a:solidFill>
                  <a:srgbClr val="01374A"/>
                </a:solidFill>
                <a:latin typeface="Calibri" pitchFamily="34" charset="0"/>
                <a:ea typeface="Calibri" pitchFamily="34" charset="-122"/>
                <a:cs typeface="Calibri" pitchFamily="34" charset="-120"/>
              </a:rPr>
              <a:t>Project Overview: The Organizational Biopsy</a:t>
            </a:r>
            <a:endParaRPr lang="en-US" sz="2400" dirty="0"/>
          </a:p>
        </p:txBody>
      </p:sp>
      <p:sp>
        <p:nvSpPr>
          <p:cNvPr id="3" name="Shape 1"/>
          <p:cNvSpPr/>
          <p:nvPr/>
        </p:nvSpPr>
        <p:spPr>
          <a:xfrm>
            <a:off x="0" y="0"/>
            <a:ext cx="109728" cy="5143500"/>
          </a:xfrm>
          <a:prstGeom prst="rect">
            <a:avLst/>
          </a:prstGeom>
          <a:solidFill>
            <a:srgbClr val="028090"/>
          </a:solidFill>
          <a:ln w="12700">
            <a:solidFill>
              <a:srgbClr val="028090"/>
            </a:solidFill>
            <a:prstDash val="solid"/>
          </a:ln>
        </p:spPr>
      </p:sp>
      <p:sp>
        <p:nvSpPr>
          <p:cNvPr id="4" name="Text 2"/>
          <p:cNvSpPr/>
          <p:nvPr/>
        </p:nvSpPr>
        <p:spPr>
          <a:xfrm>
            <a:off x="457200" y="868680"/>
            <a:ext cx="1828800" cy="914400"/>
          </a:xfrm>
          <a:prstGeom prst="rect">
            <a:avLst/>
          </a:prstGeom>
          <a:noFill/>
          <a:ln/>
        </p:spPr>
        <p:txBody>
          <a:bodyPr wrap="square" rtlCol="0" anchor="ctr"/>
          <a:lstStyle/>
          <a:p>
            <a:pPr indent="0" marL="0">
              <a:buNone/>
            </a:pPr>
            <a:r>
              <a:rPr lang="en-US" sz="5200" b="1" dirty="0">
                <a:solidFill>
                  <a:srgbClr val="028090"/>
                </a:solidFill>
                <a:latin typeface="Calibri" pitchFamily="34" charset="0"/>
                <a:ea typeface="Calibri" pitchFamily="34" charset="-122"/>
                <a:cs typeface="Calibri" pitchFamily="34" charset="-120"/>
              </a:rPr>
              <a:t>33%</a:t>
            </a:r>
            <a:endParaRPr lang="en-US" sz="5200" dirty="0"/>
          </a:p>
        </p:txBody>
      </p:sp>
      <p:sp>
        <p:nvSpPr>
          <p:cNvPr id="5" name="Text 3"/>
          <p:cNvSpPr/>
          <p:nvPr/>
        </p:nvSpPr>
        <p:spPr>
          <a:xfrm>
            <a:off x="457200" y="1737360"/>
            <a:ext cx="1828800" cy="5486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overall</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attrition rate</a:t>
            </a:r>
            <a:endParaRPr lang="en-US" sz="1100" dirty="0"/>
          </a:p>
        </p:txBody>
      </p:sp>
      <p:sp>
        <p:nvSpPr>
          <p:cNvPr id="6" name="Text 4"/>
          <p:cNvSpPr/>
          <p:nvPr/>
        </p:nvSpPr>
        <p:spPr>
          <a:xfrm>
            <a:off x="2560320" y="868680"/>
            <a:ext cx="1828800" cy="914400"/>
          </a:xfrm>
          <a:prstGeom prst="rect">
            <a:avLst/>
          </a:prstGeom>
          <a:noFill/>
          <a:ln/>
        </p:spPr>
        <p:txBody>
          <a:bodyPr wrap="square" rtlCol="0" anchor="ctr"/>
          <a:lstStyle/>
          <a:p>
            <a:pPr indent="0" marL="0">
              <a:buNone/>
            </a:pPr>
            <a:r>
              <a:rPr lang="en-US" sz="5200" b="1" dirty="0">
                <a:solidFill>
                  <a:srgbClr val="028090"/>
                </a:solidFill>
                <a:latin typeface="Calibri" pitchFamily="34" charset="0"/>
                <a:ea typeface="Calibri" pitchFamily="34" charset="-122"/>
                <a:cs typeface="Calibri" pitchFamily="34" charset="-120"/>
              </a:rPr>
              <a:t>311</a:t>
            </a:r>
            <a:endParaRPr lang="en-US" sz="5200" dirty="0"/>
          </a:p>
        </p:txBody>
      </p:sp>
      <p:sp>
        <p:nvSpPr>
          <p:cNvPr id="7" name="Text 5"/>
          <p:cNvSpPr/>
          <p:nvPr/>
        </p:nvSpPr>
        <p:spPr>
          <a:xfrm>
            <a:off x="2560320" y="1737360"/>
            <a:ext cx="1828800" cy="5486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employee</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records</a:t>
            </a:r>
            <a:endParaRPr lang="en-US" sz="1100" dirty="0"/>
          </a:p>
        </p:txBody>
      </p:sp>
      <p:sp>
        <p:nvSpPr>
          <p:cNvPr id="8" name="Text 6"/>
          <p:cNvSpPr/>
          <p:nvPr/>
        </p:nvSpPr>
        <p:spPr>
          <a:xfrm>
            <a:off x="4663440" y="868680"/>
            <a:ext cx="1828800" cy="914400"/>
          </a:xfrm>
          <a:prstGeom prst="rect">
            <a:avLst/>
          </a:prstGeom>
          <a:noFill/>
          <a:ln/>
        </p:spPr>
        <p:txBody>
          <a:bodyPr wrap="square" rtlCol="0" anchor="ctr"/>
          <a:lstStyle/>
          <a:p>
            <a:pPr indent="0" marL="0">
              <a:buNone/>
            </a:pPr>
            <a:r>
              <a:rPr lang="en-US" sz="5200" b="1" dirty="0">
                <a:solidFill>
                  <a:srgbClr val="F4A261"/>
                </a:solidFill>
                <a:latin typeface="Calibri" pitchFamily="34" charset="0"/>
                <a:ea typeface="Calibri" pitchFamily="34" charset="-122"/>
                <a:cs typeface="Calibri" pitchFamily="34" charset="-120"/>
              </a:rPr>
              <a:t>3</a:t>
            </a:r>
            <a:endParaRPr lang="en-US" sz="5200" dirty="0"/>
          </a:p>
        </p:txBody>
      </p:sp>
      <p:sp>
        <p:nvSpPr>
          <p:cNvPr id="9" name="Text 7"/>
          <p:cNvSpPr/>
          <p:nvPr/>
        </p:nvSpPr>
        <p:spPr>
          <a:xfrm>
            <a:off x="4663440" y="1737360"/>
            <a:ext cx="1828800" cy="5486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organizational</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paradoxes found</a:t>
            </a:r>
            <a:endParaRPr lang="en-US" sz="1100" dirty="0"/>
          </a:p>
        </p:txBody>
      </p:sp>
      <p:sp>
        <p:nvSpPr>
          <p:cNvPr id="10" name="Shape 8"/>
          <p:cNvSpPr/>
          <p:nvPr/>
        </p:nvSpPr>
        <p:spPr>
          <a:xfrm>
            <a:off x="365760" y="2514600"/>
            <a:ext cx="8412480" cy="36576"/>
          </a:xfrm>
          <a:prstGeom prst="rect">
            <a:avLst/>
          </a:prstGeom>
          <a:solidFill>
            <a:srgbClr val="E2E8F0"/>
          </a:solidFill>
          <a:ln w="12700">
            <a:solidFill>
              <a:srgbClr val="E2E8F0"/>
            </a:solidFill>
            <a:prstDash val="solid"/>
          </a:ln>
        </p:spPr>
      </p:sp>
      <p:sp>
        <p:nvSpPr>
          <p:cNvPr id="11" name="Shape 9"/>
          <p:cNvSpPr/>
          <p:nvPr/>
        </p:nvSpPr>
        <p:spPr>
          <a:xfrm>
            <a:off x="365760" y="2743200"/>
            <a:ext cx="2606040" cy="2194560"/>
          </a:xfrm>
          <a:prstGeom prst="rect">
            <a:avLst/>
          </a:prstGeom>
          <a:solidFill>
            <a:srgbClr val="EFF9F8"/>
          </a:solidFill>
          <a:ln w="12700">
            <a:solidFill>
              <a:srgbClr val="B2E4DE"/>
            </a:solidFill>
            <a:prstDash val="solid"/>
          </a:ln>
        </p:spPr>
      </p:sp>
      <p:sp>
        <p:nvSpPr>
          <p:cNvPr id="12" name="Shape 10"/>
          <p:cNvSpPr/>
          <p:nvPr/>
        </p:nvSpPr>
        <p:spPr>
          <a:xfrm>
            <a:off x="365760" y="2743200"/>
            <a:ext cx="2606040" cy="457200"/>
          </a:xfrm>
          <a:prstGeom prst="rect">
            <a:avLst/>
          </a:prstGeom>
          <a:solidFill>
            <a:srgbClr val="028090"/>
          </a:solidFill>
          <a:ln w="12700">
            <a:solidFill>
              <a:srgbClr val="028090"/>
            </a:solidFill>
            <a:prstDash val="solid"/>
          </a:ln>
        </p:spPr>
      </p:sp>
      <p:sp>
        <p:nvSpPr>
          <p:cNvPr id="13" name="Text 11"/>
          <p:cNvSpPr/>
          <p:nvPr/>
        </p:nvSpPr>
        <p:spPr>
          <a:xfrm>
            <a:off x="457200" y="2779776"/>
            <a:ext cx="237744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Paradox 01</a:t>
            </a:r>
            <a:endParaRPr lang="en-US" sz="1100" dirty="0"/>
          </a:p>
        </p:txBody>
      </p:sp>
      <p:sp>
        <p:nvSpPr>
          <p:cNvPr id="14" name="Text 12"/>
          <p:cNvSpPr/>
          <p:nvPr/>
        </p:nvSpPr>
        <p:spPr>
          <a:xfrm>
            <a:off x="457200" y="3291840"/>
            <a:ext cx="2423160" cy="365760"/>
          </a:xfrm>
          <a:prstGeom prst="rect">
            <a:avLst/>
          </a:prstGeom>
          <a:noFill/>
          <a:ln/>
        </p:spPr>
        <p:txBody>
          <a:bodyPr wrap="square" rtlCol="0" anchor="ctr"/>
          <a:lstStyle/>
          <a:p>
            <a:pPr indent="0" marL="0">
              <a:buNone/>
            </a:pPr>
            <a:r>
              <a:rPr lang="en-US" sz="1200" b="1" dirty="0">
                <a:solidFill>
                  <a:srgbClr val="01374A"/>
                </a:solidFill>
                <a:latin typeface="Calibri" pitchFamily="34" charset="0"/>
                <a:ea typeface="Calibri" pitchFamily="34" charset="-122"/>
                <a:cs typeface="Calibri" pitchFamily="34" charset="-120"/>
              </a:rPr>
              <a:t>The Absence Paradox</a:t>
            </a:r>
            <a:endParaRPr lang="en-US" sz="1200" dirty="0"/>
          </a:p>
        </p:txBody>
      </p:sp>
      <p:sp>
        <p:nvSpPr>
          <p:cNvPr id="15" name="Text 13"/>
          <p:cNvSpPr/>
          <p:nvPr/>
        </p:nvSpPr>
        <p:spPr>
          <a:xfrm>
            <a:off x="457200" y="3703320"/>
            <a:ext cx="2423160" cy="1097280"/>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Top performers show higher absence rates than low performers — a burnout signal, not disengagement.</a:t>
            </a:r>
            <a:endParaRPr lang="en-US" sz="1000" dirty="0"/>
          </a:p>
        </p:txBody>
      </p:sp>
      <p:sp>
        <p:nvSpPr>
          <p:cNvPr id="16" name="Shape 14"/>
          <p:cNvSpPr/>
          <p:nvPr/>
        </p:nvSpPr>
        <p:spPr>
          <a:xfrm>
            <a:off x="3200400" y="2743200"/>
            <a:ext cx="2606040" cy="2194560"/>
          </a:xfrm>
          <a:prstGeom prst="rect">
            <a:avLst/>
          </a:prstGeom>
          <a:solidFill>
            <a:srgbClr val="EFF9F8"/>
          </a:solidFill>
          <a:ln w="12700">
            <a:solidFill>
              <a:srgbClr val="B2E4DE"/>
            </a:solidFill>
            <a:prstDash val="solid"/>
          </a:ln>
        </p:spPr>
      </p:sp>
      <p:sp>
        <p:nvSpPr>
          <p:cNvPr id="17" name="Shape 15"/>
          <p:cNvSpPr/>
          <p:nvPr/>
        </p:nvSpPr>
        <p:spPr>
          <a:xfrm>
            <a:off x="3200400" y="2743200"/>
            <a:ext cx="2606040" cy="457200"/>
          </a:xfrm>
          <a:prstGeom prst="rect">
            <a:avLst/>
          </a:prstGeom>
          <a:solidFill>
            <a:srgbClr val="028090"/>
          </a:solidFill>
          <a:ln w="12700">
            <a:solidFill>
              <a:srgbClr val="028090"/>
            </a:solidFill>
            <a:prstDash val="solid"/>
          </a:ln>
        </p:spPr>
      </p:sp>
      <p:sp>
        <p:nvSpPr>
          <p:cNvPr id="18" name="Text 16"/>
          <p:cNvSpPr/>
          <p:nvPr/>
        </p:nvSpPr>
        <p:spPr>
          <a:xfrm>
            <a:off x="3291840" y="2779776"/>
            <a:ext cx="237744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Paradox 02</a:t>
            </a:r>
            <a:endParaRPr lang="en-US" sz="1100" dirty="0"/>
          </a:p>
        </p:txBody>
      </p:sp>
      <p:sp>
        <p:nvSpPr>
          <p:cNvPr id="19" name="Text 17"/>
          <p:cNvSpPr/>
          <p:nvPr/>
        </p:nvSpPr>
        <p:spPr>
          <a:xfrm>
            <a:off x="3291840" y="3291840"/>
            <a:ext cx="2423160" cy="365760"/>
          </a:xfrm>
          <a:prstGeom prst="rect">
            <a:avLst/>
          </a:prstGeom>
          <a:noFill/>
          <a:ln/>
        </p:spPr>
        <p:txBody>
          <a:bodyPr wrap="square" rtlCol="0" anchor="ctr"/>
          <a:lstStyle/>
          <a:p>
            <a:pPr indent="0" marL="0">
              <a:buNone/>
            </a:pPr>
            <a:r>
              <a:rPr lang="en-US" sz="1200" b="1" dirty="0">
                <a:solidFill>
                  <a:srgbClr val="01374A"/>
                </a:solidFill>
                <a:latin typeface="Calibri" pitchFamily="34" charset="0"/>
                <a:ea typeface="Calibri" pitchFamily="34" charset="-122"/>
                <a:cs typeface="Calibri" pitchFamily="34" charset="-120"/>
              </a:rPr>
              <a:t>Micro-Climate Toxicity</a:t>
            </a:r>
            <a:endParaRPr lang="en-US" sz="1200" dirty="0"/>
          </a:p>
        </p:txBody>
      </p:sp>
      <p:sp>
        <p:nvSpPr>
          <p:cNvPr id="20" name="Text 18"/>
          <p:cNvSpPr/>
          <p:nvPr/>
        </p:nvSpPr>
        <p:spPr>
          <a:xfrm>
            <a:off x="3291840" y="3703320"/>
            <a:ext cx="2423160" cy="1097280"/>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Two managers drive 62% attrition in their teams while the company average sits at 33%.</a:t>
            </a:r>
            <a:endParaRPr lang="en-US" sz="1000" dirty="0"/>
          </a:p>
        </p:txBody>
      </p:sp>
      <p:sp>
        <p:nvSpPr>
          <p:cNvPr id="21" name="Shape 19"/>
          <p:cNvSpPr/>
          <p:nvPr/>
        </p:nvSpPr>
        <p:spPr>
          <a:xfrm>
            <a:off x="6035040" y="2743200"/>
            <a:ext cx="2606040" cy="2194560"/>
          </a:xfrm>
          <a:prstGeom prst="rect">
            <a:avLst/>
          </a:prstGeom>
          <a:solidFill>
            <a:srgbClr val="EFF9F8"/>
          </a:solidFill>
          <a:ln w="12700">
            <a:solidFill>
              <a:srgbClr val="B2E4DE"/>
            </a:solidFill>
            <a:prstDash val="solid"/>
          </a:ln>
        </p:spPr>
      </p:sp>
      <p:sp>
        <p:nvSpPr>
          <p:cNvPr id="22" name="Shape 20"/>
          <p:cNvSpPr/>
          <p:nvPr/>
        </p:nvSpPr>
        <p:spPr>
          <a:xfrm>
            <a:off x="6035040" y="2743200"/>
            <a:ext cx="2606040" cy="457200"/>
          </a:xfrm>
          <a:prstGeom prst="rect">
            <a:avLst/>
          </a:prstGeom>
          <a:solidFill>
            <a:srgbClr val="028090"/>
          </a:solidFill>
          <a:ln w="12700">
            <a:solidFill>
              <a:srgbClr val="028090"/>
            </a:solidFill>
            <a:prstDash val="solid"/>
          </a:ln>
        </p:spPr>
      </p:sp>
      <p:sp>
        <p:nvSpPr>
          <p:cNvPr id="23" name="Text 21"/>
          <p:cNvSpPr/>
          <p:nvPr/>
        </p:nvSpPr>
        <p:spPr>
          <a:xfrm>
            <a:off x="6126480" y="2779776"/>
            <a:ext cx="237744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Paradox 03</a:t>
            </a:r>
            <a:endParaRPr lang="en-US" sz="1100" dirty="0"/>
          </a:p>
        </p:txBody>
      </p:sp>
      <p:sp>
        <p:nvSpPr>
          <p:cNvPr id="24" name="Text 22"/>
          <p:cNvSpPr/>
          <p:nvPr/>
        </p:nvSpPr>
        <p:spPr>
          <a:xfrm>
            <a:off x="6126480" y="3291840"/>
            <a:ext cx="2423160" cy="365760"/>
          </a:xfrm>
          <a:prstGeom prst="rect">
            <a:avLst/>
          </a:prstGeom>
          <a:noFill/>
          <a:ln/>
        </p:spPr>
        <p:txBody>
          <a:bodyPr wrap="square" rtlCol="0" anchor="ctr"/>
          <a:lstStyle/>
          <a:p>
            <a:pPr indent="0" marL="0">
              <a:buNone/>
            </a:pPr>
            <a:r>
              <a:rPr lang="en-US" sz="1200" b="1" dirty="0">
                <a:solidFill>
                  <a:srgbClr val="01374A"/>
                </a:solidFill>
                <a:latin typeface="Calibri" pitchFamily="34" charset="0"/>
                <a:ea typeface="Calibri" pitchFamily="34" charset="-122"/>
                <a:cs typeface="Calibri" pitchFamily="34" charset="-120"/>
              </a:rPr>
              <a:t>Culture over Cash</a:t>
            </a:r>
            <a:endParaRPr lang="en-US" sz="1200" dirty="0"/>
          </a:p>
        </p:txBody>
      </p:sp>
      <p:sp>
        <p:nvSpPr>
          <p:cNvPr id="25" name="Text 23"/>
          <p:cNvSpPr/>
          <p:nvPr/>
        </p:nvSpPr>
        <p:spPr>
          <a:xfrm>
            <a:off x="6126480" y="3703320"/>
            <a:ext cx="2423160" cy="1097280"/>
          </a:xfrm>
          <a:prstGeom prst="rect">
            <a:avLst/>
          </a:prstGeom>
          <a:noFill/>
          <a:ln/>
        </p:spPr>
        <p:txBody>
          <a:bodyPr wrap="square" rtlCol="0" anchor="t"/>
          <a:lstStyle/>
          <a:p>
            <a:pPr indent="0" marL="0">
              <a:buNone/>
            </a:pPr>
            <a:r>
              <a:rPr lang="en-US" sz="1000" dirty="0">
                <a:solidFill>
                  <a:srgbClr val="334155"/>
                </a:solidFill>
                <a:latin typeface="Calibri" pitchFamily="34" charset="0"/>
                <a:ea typeface="Calibri" pitchFamily="34" charset="-122"/>
                <a:cs typeface="Calibri" pitchFamily="34" charset="-120"/>
              </a:rPr>
              <a:t>'Unhappy' (14 exits) outranks 'More Money' (11 exits) as the primary driver of voluntary termination.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1374A"/>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Executive Summary</a:t>
            </a:r>
            <a:endParaRPr lang="en-US" sz="2800" dirty="0"/>
          </a:p>
        </p:txBody>
      </p:sp>
      <p:sp>
        <p:nvSpPr>
          <p:cNvPr id="3" name="Text 1"/>
          <p:cNvSpPr/>
          <p:nvPr/>
        </p:nvSpPr>
        <p:spPr>
          <a:xfrm>
            <a:off x="457200" y="658368"/>
            <a:ext cx="8229600" cy="320040"/>
          </a:xfrm>
          <a:prstGeom prst="rect">
            <a:avLst/>
          </a:prstGeom>
          <a:noFill/>
          <a:ln/>
        </p:spPr>
        <p:txBody>
          <a:bodyPr wrap="square" rtlCol="0" anchor="ctr"/>
          <a:lstStyle/>
          <a:p>
            <a:pPr indent="0" marL="0">
              <a:buNone/>
            </a:pPr>
            <a:r>
              <a:rPr lang="en-US" sz="1300" i="1" dirty="0">
                <a:solidFill>
                  <a:srgbClr val="7EDED6"/>
                </a:solidFill>
                <a:latin typeface="Calibri" pitchFamily="34" charset="0"/>
                <a:ea typeface="Calibri" pitchFamily="34" charset="-122"/>
                <a:cs typeface="Calibri" pitchFamily="34" charset="-120"/>
              </a:rPr>
              <a:t>Key findings — all verified against raw CSV data</a:t>
            </a:r>
            <a:endParaRPr lang="en-US" sz="1300" dirty="0"/>
          </a:p>
        </p:txBody>
      </p:sp>
      <p:sp>
        <p:nvSpPr>
          <p:cNvPr id="4" name="Shape 2"/>
          <p:cNvSpPr/>
          <p:nvPr/>
        </p:nvSpPr>
        <p:spPr>
          <a:xfrm>
            <a:off x="274320" y="1143000"/>
            <a:ext cx="4023360" cy="1600200"/>
          </a:xfrm>
          <a:prstGeom prst="rect">
            <a:avLst/>
          </a:prstGeom>
          <a:solidFill>
            <a:srgbClr val="013D50"/>
          </a:solidFill>
          <a:ln w="12700">
            <a:solidFill>
              <a:srgbClr val="025D75"/>
            </a:solidFill>
            <a:prstDash val="solid"/>
          </a:ln>
        </p:spPr>
      </p:sp>
      <p:sp>
        <p:nvSpPr>
          <p:cNvPr id="5" name="Shape 3"/>
          <p:cNvSpPr/>
          <p:nvPr/>
        </p:nvSpPr>
        <p:spPr>
          <a:xfrm>
            <a:off x="274320" y="1143000"/>
            <a:ext cx="73152" cy="1600200"/>
          </a:xfrm>
          <a:prstGeom prst="rect">
            <a:avLst/>
          </a:prstGeom>
          <a:solidFill>
            <a:srgbClr val="02C39A"/>
          </a:solidFill>
          <a:ln w="12700">
            <a:solidFill>
              <a:srgbClr val="02C39A"/>
            </a:solidFill>
            <a:prstDash val="solid"/>
          </a:ln>
        </p:spPr>
      </p:sp>
      <p:sp>
        <p:nvSpPr>
          <p:cNvPr id="6" name="Text 4"/>
          <p:cNvSpPr/>
          <p:nvPr/>
        </p:nvSpPr>
        <p:spPr>
          <a:xfrm>
            <a:off x="457200" y="1280160"/>
            <a:ext cx="3657600" cy="640080"/>
          </a:xfrm>
          <a:prstGeom prst="rect">
            <a:avLst/>
          </a:prstGeom>
          <a:noFill/>
          <a:ln/>
        </p:spPr>
        <p:txBody>
          <a:bodyPr wrap="square" rtlCol="0" anchor="ctr"/>
          <a:lstStyle/>
          <a:p>
            <a:pPr indent="0" marL="0">
              <a:buNone/>
            </a:pPr>
            <a:r>
              <a:rPr lang="en-US" sz="3000" b="1" dirty="0">
                <a:solidFill>
                  <a:srgbClr val="02C39A"/>
                </a:solidFill>
                <a:latin typeface="Calibri" pitchFamily="34" charset="0"/>
                <a:ea typeface="Calibri" pitchFamily="34" charset="-122"/>
                <a:cs typeface="Calibri" pitchFamily="34" charset="-120"/>
              </a:rPr>
              <a:t>62%</a:t>
            </a:r>
            <a:endParaRPr lang="en-US" sz="3000" dirty="0"/>
          </a:p>
        </p:txBody>
      </p:sp>
      <p:sp>
        <p:nvSpPr>
          <p:cNvPr id="7" name="Text 5"/>
          <p:cNvSpPr/>
          <p:nvPr/>
        </p:nvSpPr>
        <p:spPr>
          <a:xfrm>
            <a:off x="457200" y="1892808"/>
            <a:ext cx="36576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Attrition rate</a:t>
            </a:r>
            <a:endParaRPr lang="en-US" sz="1200" dirty="0"/>
          </a:p>
        </p:txBody>
      </p:sp>
      <p:sp>
        <p:nvSpPr>
          <p:cNvPr id="8" name="Text 6"/>
          <p:cNvSpPr/>
          <p:nvPr/>
        </p:nvSpPr>
        <p:spPr>
          <a:xfrm>
            <a:off x="457200" y="2221992"/>
            <a:ext cx="3657600" cy="347472"/>
          </a:xfrm>
          <a:prstGeom prst="rect">
            <a:avLst/>
          </a:prstGeom>
          <a:noFill/>
          <a:ln/>
        </p:spPr>
        <p:txBody>
          <a:bodyPr wrap="square" rtlCol="0" anchor="ctr"/>
          <a:lstStyle/>
          <a:p>
            <a:pPr indent="0" marL="0">
              <a:buNone/>
            </a:pPr>
            <a:r>
              <a:rPr lang="en-US" sz="1000" dirty="0">
                <a:solidFill>
                  <a:srgbClr val="7EDED6"/>
                </a:solidFill>
                <a:latin typeface="Calibri" pitchFamily="34" charset="0"/>
                <a:ea typeface="Calibri" pitchFamily="34" charset="-122"/>
                <a:cs typeface="Calibri" pitchFamily="34" charset="-120"/>
              </a:rPr>
              <a:t>Two managers: Amy Dunn &amp; Webster Butler</a:t>
            </a:r>
            <a:endParaRPr lang="en-US" sz="1000" dirty="0"/>
          </a:p>
        </p:txBody>
      </p:sp>
      <p:sp>
        <p:nvSpPr>
          <p:cNvPr id="9" name="Shape 7"/>
          <p:cNvSpPr/>
          <p:nvPr/>
        </p:nvSpPr>
        <p:spPr>
          <a:xfrm>
            <a:off x="4663440" y="1143000"/>
            <a:ext cx="4023360" cy="1600200"/>
          </a:xfrm>
          <a:prstGeom prst="rect">
            <a:avLst/>
          </a:prstGeom>
          <a:solidFill>
            <a:srgbClr val="013D50"/>
          </a:solidFill>
          <a:ln w="12700">
            <a:solidFill>
              <a:srgbClr val="025D75"/>
            </a:solidFill>
            <a:prstDash val="solid"/>
          </a:ln>
        </p:spPr>
      </p:sp>
      <p:sp>
        <p:nvSpPr>
          <p:cNvPr id="10" name="Shape 8"/>
          <p:cNvSpPr/>
          <p:nvPr/>
        </p:nvSpPr>
        <p:spPr>
          <a:xfrm>
            <a:off x="4663440" y="1143000"/>
            <a:ext cx="73152" cy="1600200"/>
          </a:xfrm>
          <a:prstGeom prst="rect">
            <a:avLst/>
          </a:prstGeom>
          <a:solidFill>
            <a:srgbClr val="02C39A"/>
          </a:solidFill>
          <a:ln w="12700">
            <a:solidFill>
              <a:srgbClr val="02C39A"/>
            </a:solidFill>
            <a:prstDash val="solid"/>
          </a:ln>
        </p:spPr>
      </p:sp>
      <p:sp>
        <p:nvSpPr>
          <p:cNvPr id="11" name="Text 9"/>
          <p:cNvSpPr/>
          <p:nvPr/>
        </p:nvSpPr>
        <p:spPr>
          <a:xfrm>
            <a:off x="4846320" y="1280160"/>
            <a:ext cx="3657600" cy="640080"/>
          </a:xfrm>
          <a:prstGeom prst="rect">
            <a:avLst/>
          </a:prstGeom>
          <a:noFill/>
          <a:ln/>
        </p:spPr>
        <p:txBody>
          <a:bodyPr wrap="square" rtlCol="0" anchor="ctr"/>
          <a:lstStyle/>
          <a:p>
            <a:pPr indent="0" marL="0">
              <a:buNone/>
            </a:pPr>
            <a:r>
              <a:rPr lang="en-US" sz="3000" b="1" dirty="0">
                <a:solidFill>
                  <a:srgbClr val="02C39A"/>
                </a:solidFill>
                <a:latin typeface="Calibri" pitchFamily="34" charset="0"/>
                <a:ea typeface="Calibri" pitchFamily="34" charset="-122"/>
                <a:cs typeface="Calibri" pitchFamily="34" charset="-120"/>
              </a:rPr>
              <a:t>10.5</a:t>
            </a:r>
            <a:endParaRPr lang="en-US" sz="3000" dirty="0"/>
          </a:p>
        </p:txBody>
      </p:sp>
      <p:sp>
        <p:nvSpPr>
          <p:cNvPr id="12" name="Text 10"/>
          <p:cNvSpPr/>
          <p:nvPr/>
        </p:nvSpPr>
        <p:spPr>
          <a:xfrm>
            <a:off x="4846320" y="1892808"/>
            <a:ext cx="36576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Avg absences — Exceeds performers</a:t>
            </a:r>
            <a:endParaRPr lang="en-US" sz="1200" dirty="0"/>
          </a:p>
        </p:txBody>
      </p:sp>
      <p:sp>
        <p:nvSpPr>
          <p:cNvPr id="13" name="Text 11"/>
          <p:cNvSpPr/>
          <p:nvPr/>
        </p:nvSpPr>
        <p:spPr>
          <a:xfrm>
            <a:off x="4846320" y="2221992"/>
            <a:ext cx="3657600" cy="347472"/>
          </a:xfrm>
          <a:prstGeom prst="rect">
            <a:avLst/>
          </a:prstGeom>
          <a:noFill/>
          <a:ln/>
        </p:spPr>
        <p:txBody>
          <a:bodyPr wrap="square" rtlCol="0" anchor="ctr"/>
          <a:lstStyle/>
          <a:p>
            <a:pPr indent="0" marL="0">
              <a:buNone/>
            </a:pPr>
            <a:r>
              <a:rPr lang="en-US" sz="1000" dirty="0">
                <a:solidFill>
                  <a:srgbClr val="7EDED6"/>
                </a:solidFill>
                <a:latin typeface="Calibri" pitchFamily="34" charset="0"/>
                <a:ea typeface="Calibri" pitchFamily="34" charset="-122"/>
                <a:cs typeface="Calibri" pitchFamily="34" charset="-120"/>
              </a:rPr>
              <a:t>vs 8.3 days for PIP employees</a:t>
            </a:r>
            <a:endParaRPr lang="en-US" sz="1000" dirty="0"/>
          </a:p>
        </p:txBody>
      </p:sp>
      <p:sp>
        <p:nvSpPr>
          <p:cNvPr id="14" name="Shape 12"/>
          <p:cNvSpPr/>
          <p:nvPr/>
        </p:nvSpPr>
        <p:spPr>
          <a:xfrm>
            <a:off x="274320" y="2926080"/>
            <a:ext cx="4023360" cy="1600200"/>
          </a:xfrm>
          <a:prstGeom prst="rect">
            <a:avLst/>
          </a:prstGeom>
          <a:solidFill>
            <a:srgbClr val="013D50"/>
          </a:solidFill>
          <a:ln w="12700">
            <a:solidFill>
              <a:srgbClr val="025D75"/>
            </a:solidFill>
            <a:prstDash val="solid"/>
          </a:ln>
        </p:spPr>
      </p:sp>
      <p:sp>
        <p:nvSpPr>
          <p:cNvPr id="15" name="Shape 13"/>
          <p:cNvSpPr/>
          <p:nvPr/>
        </p:nvSpPr>
        <p:spPr>
          <a:xfrm>
            <a:off x="274320" y="2926080"/>
            <a:ext cx="73152" cy="1600200"/>
          </a:xfrm>
          <a:prstGeom prst="rect">
            <a:avLst/>
          </a:prstGeom>
          <a:solidFill>
            <a:srgbClr val="02C39A"/>
          </a:solidFill>
          <a:ln w="12700">
            <a:solidFill>
              <a:srgbClr val="02C39A"/>
            </a:solidFill>
            <a:prstDash val="solid"/>
          </a:ln>
        </p:spPr>
      </p:sp>
      <p:sp>
        <p:nvSpPr>
          <p:cNvPr id="16" name="Text 14"/>
          <p:cNvSpPr/>
          <p:nvPr/>
        </p:nvSpPr>
        <p:spPr>
          <a:xfrm>
            <a:off x="457200" y="3063240"/>
            <a:ext cx="3657600" cy="640080"/>
          </a:xfrm>
          <a:prstGeom prst="rect">
            <a:avLst/>
          </a:prstGeom>
          <a:noFill/>
          <a:ln/>
        </p:spPr>
        <p:txBody>
          <a:bodyPr wrap="square" rtlCol="0" anchor="ctr"/>
          <a:lstStyle/>
          <a:p>
            <a:pPr indent="0" marL="0">
              <a:buNone/>
            </a:pPr>
            <a:r>
              <a:rPr lang="en-US" sz="3000" b="1" dirty="0">
                <a:solidFill>
                  <a:srgbClr val="02C39A"/>
                </a:solidFill>
                <a:latin typeface="Calibri" pitchFamily="34" charset="0"/>
                <a:ea typeface="Calibri" pitchFamily="34" charset="-122"/>
                <a:cs typeface="Calibri" pitchFamily="34" charset="-120"/>
              </a:rPr>
              <a:t>14 vs 11</a:t>
            </a:r>
            <a:endParaRPr lang="en-US" sz="3000" dirty="0"/>
          </a:p>
        </p:txBody>
      </p:sp>
      <p:sp>
        <p:nvSpPr>
          <p:cNvPr id="17" name="Text 15"/>
          <p:cNvSpPr/>
          <p:nvPr/>
        </p:nvSpPr>
        <p:spPr>
          <a:xfrm>
            <a:off x="457200" y="3675888"/>
            <a:ext cx="36576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'Unhappy' vs 'More Money' exits</a:t>
            </a:r>
            <a:endParaRPr lang="en-US" sz="1200" dirty="0"/>
          </a:p>
        </p:txBody>
      </p:sp>
      <p:sp>
        <p:nvSpPr>
          <p:cNvPr id="18" name="Text 16"/>
          <p:cNvSpPr/>
          <p:nvPr/>
        </p:nvSpPr>
        <p:spPr>
          <a:xfrm>
            <a:off x="457200" y="4005072"/>
            <a:ext cx="3657600" cy="347472"/>
          </a:xfrm>
          <a:prstGeom prst="rect">
            <a:avLst/>
          </a:prstGeom>
          <a:noFill/>
          <a:ln/>
        </p:spPr>
        <p:txBody>
          <a:bodyPr wrap="square" rtlCol="0" anchor="ctr"/>
          <a:lstStyle/>
          <a:p>
            <a:pPr indent="0" marL="0">
              <a:buNone/>
            </a:pPr>
            <a:r>
              <a:rPr lang="en-US" sz="1000" dirty="0">
                <a:solidFill>
                  <a:srgbClr val="7EDED6"/>
                </a:solidFill>
                <a:latin typeface="Calibri" pitchFamily="34" charset="0"/>
                <a:ea typeface="Calibri" pitchFamily="34" charset="-122"/>
                <a:cs typeface="Calibri" pitchFamily="34" charset="-120"/>
              </a:rPr>
              <a:t>Culture outranks compensation</a:t>
            </a:r>
            <a:endParaRPr lang="en-US" sz="1000" dirty="0"/>
          </a:p>
        </p:txBody>
      </p:sp>
      <p:sp>
        <p:nvSpPr>
          <p:cNvPr id="19" name="Shape 17"/>
          <p:cNvSpPr/>
          <p:nvPr/>
        </p:nvSpPr>
        <p:spPr>
          <a:xfrm>
            <a:off x="4663440" y="2926080"/>
            <a:ext cx="4023360" cy="1600200"/>
          </a:xfrm>
          <a:prstGeom prst="rect">
            <a:avLst/>
          </a:prstGeom>
          <a:solidFill>
            <a:srgbClr val="013D50"/>
          </a:solidFill>
          <a:ln w="12700">
            <a:solidFill>
              <a:srgbClr val="025D75"/>
            </a:solidFill>
            <a:prstDash val="solid"/>
          </a:ln>
        </p:spPr>
      </p:sp>
      <p:sp>
        <p:nvSpPr>
          <p:cNvPr id="20" name="Shape 18"/>
          <p:cNvSpPr/>
          <p:nvPr/>
        </p:nvSpPr>
        <p:spPr>
          <a:xfrm>
            <a:off x="4663440" y="2926080"/>
            <a:ext cx="73152" cy="1600200"/>
          </a:xfrm>
          <a:prstGeom prst="rect">
            <a:avLst/>
          </a:prstGeom>
          <a:solidFill>
            <a:srgbClr val="02C39A"/>
          </a:solidFill>
          <a:ln w="12700">
            <a:solidFill>
              <a:srgbClr val="02C39A"/>
            </a:solidFill>
            <a:prstDash val="solid"/>
          </a:ln>
        </p:spPr>
      </p:sp>
      <p:sp>
        <p:nvSpPr>
          <p:cNvPr id="21" name="Text 19"/>
          <p:cNvSpPr/>
          <p:nvPr/>
        </p:nvSpPr>
        <p:spPr>
          <a:xfrm>
            <a:off x="4846320" y="3063240"/>
            <a:ext cx="3657600" cy="640080"/>
          </a:xfrm>
          <a:prstGeom prst="rect">
            <a:avLst/>
          </a:prstGeom>
          <a:noFill/>
          <a:ln/>
        </p:spPr>
        <p:txBody>
          <a:bodyPr wrap="square" rtlCol="0" anchor="ctr"/>
          <a:lstStyle/>
          <a:p>
            <a:pPr indent="0" marL="0">
              <a:buNone/>
            </a:pPr>
            <a:r>
              <a:rPr lang="en-US" sz="3000" b="1" dirty="0">
                <a:solidFill>
                  <a:srgbClr val="02C39A"/>
                </a:solidFill>
                <a:latin typeface="Calibri" pitchFamily="34" charset="0"/>
                <a:ea typeface="Calibri" pitchFamily="34" charset="-122"/>
                <a:cs typeface="Calibri" pitchFamily="34" charset="-120"/>
              </a:rPr>
              <a:t>0.51</a:t>
            </a:r>
            <a:endParaRPr lang="en-US" sz="3000" dirty="0"/>
          </a:p>
        </p:txBody>
      </p:sp>
      <p:sp>
        <p:nvSpPr>
          <p:cNvPr id="22" name="Text 20"/>
          <p:cNvSpPr/>
          <p:nvPr/>
        </p:nvSpPr>
        <p:spPr>
          <a:xfrm>
            <a:off x="4846320" y="3675888"/>
            <a:ext cx="365760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Salary ↔ Special Projects correlation</a:t>
            </a:r>
            <a:endParaRPr lang="en-US" sz="1200" dirty="0"/>
          </a:p>
        </p:txBody>
      </p:sp>
      <p:sp>
        <p:nvSpPr>
          <p:cNvPr id="23" name="Text 21"/>
          <p:cNvSpPr/>
          <p:nvPr/>
        </p:nvSpPr>
        <p:spPr>
          <a:xfrm>
            <a:off x="4846320" y="4005072"/>
            <a:ext cx="3657600" cy="347472"/>
          </a:xfrm>
          <a:prstGeom prst="rect">
            <a:avLst/>
          </a:prstGeom>
          <a:noFill/>
          <a:ln/>
        </p:spPr>
        <p:txBody>
          <a:bodyPr wrap="square" rtlCol="0" anchor="ctr"/>
          <a:lstStyle/>
          <a:p>
            <a:pPr indent="0" marL="0">
              <a:buNone/>
            </a:pPr>
            <a:r>
              <a:rPr lang="en-US" sz="1000" dirty="0">
                <a:solidFill>
                  <a:srgbClr val="7EDED6"/>
                </a:solidFill>
                <a:latin typeface="Calibri" pitchFamily="34" charset="0"/>
                <a:ea typeface="Calibri" pitchFamily="34" charset="-122"/>
                <a:cs typeface="Calibri" pitchFamily="34" charset="-120"/>
              </a:rPr>
              <a:t>Access gap drives pay gap in IT/IS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400" b="1" dirty="0">
                <a:solidFill>
                  <a:srgbClr val="01374A"/>
                </a:solidFill>
                <a:latin typeface="Calibri" pitchFamily="34" charset="0"/>
                <a:ea typeface="Calibri" pitchFamily="34" charset="-122"/>
                <a:cs typeface="Calibri" pitchFamily="34" charset="-120"/>
              </a:rPr>
              <a:t>Paradox 1: The Absence Paradox — Burnout Detection</a:t>
            </a:r>
            <a:endParaRPr lang="en-US" sz="2400" dirty="0"/>
          </a:p>
        </p:txBody>
      </p:sp>
      <p:sp>
        <p:nvSpPr>
          <p:cNvPr id="3" name="Shape 1"/>
          <p:cNvSpPr/>
          <p:nvPr/>
        </p:nvSpPr>
        <p:spPr>
          <a:xfrm>
            <a:off x="0" y="0"/>
            <a:ext cx="109728" cy="5143500"/>
          </a:xfrm>
          <a:prstGeom prst="rect">
            <a:avLst/>
          </a:prstGeom>
          <a:solidFill>
            <a:srgbClr val="028090"/>
          </a:solidFill>
          <a:ln w="12700">
            <a:solidFill>
              <a:srgbClr val="028090"/>
            </a:solidFill>
            <a:prstDash val="solid"/>
          </a:ln>
        </p:spPr>
      </p:sp>
      <p:graphicFrame>
        <p:nvGraphicFramePr>
          <p:cNvPr id="4" name="Chart 0" descr=""/>
          <p:cNvGraphicFramePr/>
          <p:nvPr/>
        </p:nvGraphicFramePr>
        <p:xfrm>
          <a:off x="365760" y="822960"/>
          <a:ext cx="438912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937760" y="822960"/>
          <a:ext cx="3840480" cy="2103120"/>
        </p:xfrm>
        <a:graphic>
          <a:graphicData uri="http://schemas.openxmlformats.org/drawingml/2006/table">
            <a:tbl>
              <a:tblPr/>
              <a:tblGrid>
                <a:gridCol w="1280160"/>
                <a:gridCol w="1188720"/>
                <a:gridCol w="1371600"/>
              </a:tblGrid>
              <a:tr h="42062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Performance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28090"/>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Mean Absences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2809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28090"/>
                    </a:solidFill>
                  </a:tcPr>
                </a:tc>
              </a:tr>
              <a:tr h="42062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Needs Improvement</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F2"/>
                    </a:solidFill>
                  </a:tcPr>
                </a:tc>
                <a:tc>
                  <a:txBody>
                    <a:bodyPr/>
                    <a:lstStyle/>
                    <a:p>
                      <a:pPr algn="ctr" indent="0" marL="0">
                        <a:buNone/>
                      </a:pPr>
                      <a:r>
                        <a:rPr lang="en-US" sz="1000" b="1" dirty="0">
                          <a:solidFill>
                            <a:srgbClr val="E55B4D"/>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F2"/>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Disengagement signal</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EF3F2"/>
                    </a:solidFill>
                  </a:tcPr>
                </a:tc>
              </a:tr>
              <a:tr h="42062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Exceeds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9F8"/>
                    </a:solidFill>
                  </a:tcPr>
                </a:tc>
                <a:tc>
                  <a:txBody>
                    <a:bodyPr/>
                    <a:lstStyle/>
                    <a:p>
                      <a:pPr algn="ctr" indent="0" marL="0">
                        <a:buNone/>
                      </a:pPr>
                      <a:r>
                        <a:rPr lang="en-US" sz="1000" b="1" dirty="0">
                          <a:solidFill>
                            <a:srgbClr val="028090"/>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9F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Burnout coping mechanism ⚠️</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9F8"/>
                    </a:solidFill>
                  </a:tcPr>
                </a:tc>
              </a:tr>
              <a:tr h="42062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Fully Meets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10.2</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Baseline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2062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PIP</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DF4"/>
                    </a:solidFill>
                  </a:tcPr>
                </a:tc>
                <a:tc>
                  <a:txBody>
                    <a:bodyPr/>
                    <a:lstStyle/>
                    <a:p>
                      <a:pPr algn="ctr" indent="0" marL="0">
                        <a:buNone/>
                      </a:pPr>
                      <a:r>
                        <a:rPr lang="en-US" sz="1000" b="1" dirty="0">
                          <a:solidFill>
                            <a:srgbClr val="16A34A"/>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DF4"/>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Scrutiny effect — suppressed absence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DF4"/>
                    </a:solidFill>
                  </a:tcPr>
                </a:tc>
              </a:tr>
            </a:tbl>
          </a:graphicData>
        </a:graphic>
      </p:graphicFrame>
      <p:sp>
        <p:nvSpPr>
          <p:cNvPr id="6" name="Text 2"/>
          <p:cNvSpPr/>
          <p:nvPr/>
        </p:nvSpPr>
        <p:spPr>
          <a:xfrm>
            <a:off x="4937760" y="3063240"/>
            <a:ext cx="3840480" cy="1828800"/>
          </a:xfrm>
          <a:prstGeom prst="rect">
            <a:avLst/>
          </a:prstGeom>
          <a:noFill/>
          <a:ln/>
        </p:spPr>
        <p:txBody>
          <a:bodyPr wrap="square" rtlCol="0" anchor="t"/>
          <a:lstStyle/>
          <a:p>
            <a:pPr indent="0" marL="0">
              <a:buNone/>
            </a:pPr>
            <a:r>
              <a:rPr lang="en-US" sz="1200" b="1" dirty="0">
                <a:solidFill>
                  <a:srgbClr val="01374A"/>
                </a:solidFill>
                <a:latin typeface="Calibri" pitchFamily="34" charset="0"/>
                <a:ea typeface="Calibri" pitchFamily="34" charset="-122"/>
                <a:cs typeface="Calibri" pitchFamily="34" charset="-120"/>
              </a:rPr>
              <a:t>Key insight: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Same metric — three different diagnoses. PIP employees suppress absences due to scrutiny. Needs Improvement signals disengagement. Exceeds employees are overextended — this is early burnout (Maslach &amp; Jackson, 1981).</a:t>
            </a:r>
            <a:endParaRPr lang="en-US" sz="1200" dirty="0"/>
          </a:p>
          <a:p>
            <a:pPr indent="0" marL="0">
              <a:buNone/>
            </a:pPr>
            <a:endParaRPr lang="en-US" sz="1200" dirty="0"/>
          </a:p>
          <a:p>
            <a:pPr indent="0" marL="0">
              <a:buNone/>
            </a:pPr>
            <a:r>
              <a:rPr lang="en-US" sz="1200" b="1" dirty="0">
                <a:solidFill>
                  <a:srgbClr val="01374A"/>
                </a:solidFill>
                <a:latin typeface="Calibri" pitchFamily="34" charset="0"/>
                <a:ea typeface="Calibri" pitchFamily="34" charset="-122"/>
                <a:cs typeface="Calibri" pitchFamily="34" charset="-120"/>
              </a:rPr>
              <a:t>Intervention trigger:</a:t>
            </a:r>
            <a:endParaRPr lang="en-US" sz="1200" dirty="0"/>
          </a:p>
          <a:p>
            <a:pPr indent="0" marL="0">
              <a:buNone/>
            </a:pPr>
            <a:r>
              <a:rPr lang="en-US" sz="1200" b="1" dirty="0">
                <a:solidFill>
                  <a:srgbClr val="028090"/>
                </a:solidFill>
                <a:latin typeface="Calibri" pitchFamily="34" charset="0"/>
                <a:ea typeface="Calibri" pitchFamily="34" charset="-122"/>
                <a:cs typeface="Calibri" pitchFamily="34" charset="-120"/>
              </a:rPr>
              <a:t>PerformanceScore = 'Exceeds'  AND  Absences &gt; 10 → automatic Stay Interview</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400" b="1" dirty="0">
                <a:solidFill>
                  <a:srgbClr val="01374A"/>
                </a:solidFill>
                <a:latin typeface="Calibri" pitchFamily="34" charset="0"/>
                <a:ea typeface="Calibri" pitchFamily="34" charset="-122"/>
                <a:cs typeface="Calibri" pitchFamily="34" charset="-120"/>
              </a:rPr>
              <a:t>Paradox 2: Micro-Climate Toxicity</a:t>
            </a:r>
            <a:endParaRPr lang="en-US" sz="2400" dirty="0"/>
          </a:p>
        </p:txBody>
      </p:sp>
      <p:sp>
        <p:nvSpPr>
          <p:cNvPr id="3" name="Shape 1"/>
          <p:cNvSpPr/>
          <p:nvPr/>
        </p:nvSpPr>
        <p:spPr>
          <a:xfrm>
            <a:off x="0" y="0"/>
            <a:ext cx="109728" cy="5143500"/>
          </a:xfrm>
          <a:prstGeom prst="rect">
            <a:avLst/>
          </a:prstGeom>
          <a:solidFill>
            <a:srgbClr val="028090"/>
          </a:solidFill>
          <a:ln w="12700">
            <a:solidFill>
              <a:srgbClr val="028090"/>
            </a:solidFill>
            <a:prstDash val="solid"/>
          </a:ln>
        </p:spPr>
      </p:sp>
      <p:graphicFrame>
        <p:nvGraphicFramePr>
          <p:cNvPr id="4" name="Chart 0" descr=""/>
          <p:cNvGraphicFramePr/>
          <p:nvPr/>
        </p:nvGraphicFramePr>
        <p:xfrm>
          <a:off x="365760" y="822960"/>
          <a:ext cx="475488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303520" y="822960"/>
            <a:ext cx="3474720" cy="1371600"/>
          </a:xfrm>
          <a:prstGeom prst="rect">
            <a:avLst/>
          </a:prstGeom>
          <a:solidFill>
            <a:srgbClr val="FEF3F2"/>
          </a:solidFill>
          <a:ln w="12700">
            <a:solidFill>
              <a:srgbClr val="FECACA"/>
            </a:solidFill>
            <a:prstDash val="solid"/>
          </a:ln>
        </p:spPr>
      </p:sp>
      <p:sp>
        <p:nvSpPr>
          <p:cNvPr id="6" name="Text 3"/>
          <p:cNvSpPr/>
          <p:nvPr/>
        </p:nvSpPr>
        <p:spPr>
          <a:xfrm>
            <a:off x="5394960" y="868680"/>
            <a:ext cx="3291840" cy="685800"/>
          </a:xfrm>
          <a:prstGeom prst="rect">
            <a:avLst/>
          </a:prstGeom>
          <a:noFill/>
          <a:ln/>
        </p:spPr>
        <p:txBody>
          <a:bodyPr wrap="square" rtlCol="0" anchor="ctr"/>
          <a:lstStyle/>
          <a:p>
            <a:pPr indent="0" marL="0">
              <a:buNone/>
            </a:pPr>
            <a:r>
              <a:rPr lang="en-US" sz="3600" b="1" dirty="0">
                <a:solidFill>
                  <a:srgbClr val="E55B4D"/>
                </a:solidFill>
                <a:latin typeface="Calibri" pitchFamily="34" charset="0"/>
                <a:ea typeface="Calibri" pitchFamily="34" charset="-122"/>
                <a:cs typeface="Calibri" pitchFamily="34" charset="-120"/>
              </a:rPr>
              <a:t>61.9%</a:t>
            </a:r>
            <a:endParaRPr lang="en-US" sz="3600" dirty="0"/>
          </a:p>
        </p:txBody>
      </p:sp>
      <p:sp>
        <p:nvSpPr>
          <p:cNvPr id="7" name="Text 4"/>
          <p:cNvSpPr/>
          <p:nvPr/>
        </p:nvSpPr>
        <p:spPr>
          <a:xfrm>
            <a:off x="5394960" y="1508760"/>
            <a:ext cx="3291840" cy="365760"/>
          </a:xfrm>
          <a:prstGeom prst="rect">
            <a:avLst/>
          </a:prstGeom>
          <a:noFill/>
          <a:ln/>
        </p:spPr>
        <p:txBody>
          <a:bodyPr wrap="square" rtlCol="0" anchor="ctr"/>
          <a:lstStyle/>
          <a:p>
            <a:pPr indent="0" marL="0">
              <a:buNone/>
            </a:pPr>
            <a:r>
              <a:rPr lang="en-US" sz="1100" dirty="0">
                <a:solidFill>
                  <a:srgbClr val="7C1D1D"/>
                </a:solidFill>
                <a:latin typeface="Calibri" pitchFamily="34" charset="0"/>
                <a:ea typeface="Calibri" pitchFamily="34" charset="-122"/>
                <a:cs typeface="Calibri" pitchFamily="34" charset="-120"/>
              </a:rPr>
              <a:t>attrition under 2 specific managers</a:t>
            </a:r>
            <a:endParaRPr lang="en-US" sz="1100" dirty="0"/>
          </a:p>
        </p:txBody>
      </p:sp>
      <p:sp>
        <p:nvSpPr>
          <p:cNvPr id="8" name="Text 5"/>
          <p:cNvSpPr/>
          <p:nvPr/>
        </p:nvSpPr>
        <p:spPr>
          <a:xfrm>
            <a:off x="5303520" y="2331720"/>
            <a:ext cx="3474720" cy="2560320"/>
          </a:xfrm>
          <a:prstGeom prst="rect">
            <a:avLst/>
          </a:prstGeom>
          <a:noFill/>
          <a:ln/>
        </p:spPr>
        <p:txBody>
          <a:bodyPr wrap="square" rtlCol="0" anchor="t"/>
          <a:lstStyle/>
          <a:p>
            <a:pPr indent="0" marL="0">
              <a:buNone/>
            </a:pPr>
            <a:r>
              <a:rPr lang="en-US" sz="1200" b="1" dirty="0">
                <a:solidFill>
                  <a:srgbClr val="01374A"/>
                </a:solidFill>
                <a:latin typeface="Calibri" pitchFamily="34" charset="0"/>
                <a:ea typeface="Calibri" pitchFamily="34" charset="-122"/>
                <a:cs typeface="Calibri" pitchFamily="34" charset="-120"/>
              </a:rPr>
              <a:t>Gallup (2015):</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Managers account for ≥70% of variance in employee engagement scores across business units.</a:t>
            </a:r>
            <a:endParaRPr lang="en-US" sz="1200" dirty="0"/>
          </a:p>
          <a:p>
            <a:pPr indent="0" marL="0">
              <a:buNone/>
            </a:pPr>
            <a:endParaRPr lang="en-US" sz="1200" dirty="0"/>
          </a:p>
          <a:p>
            <a:pPr indent="0" marL="0">
              <a:buNone/>
            </a:pPr>
            <a:r>
              <a:rPr lang="en-US" sz="1200" b="1" dirty="0">
                <a:solidFill>
                  <a:srgbClr val="01374A"/>
                </a:solidFill>
                <a:latin typeface="Calibri" pitchFamily="34" charset="0"/>
                <a:ea typeface="Calibri" pitchFamily="34" charset="-122"/>
                <a:cs typeface="Calibri" pitchFamily="34" charset="-120"/>
              </a:rPr>
              <a:t>Organizational implication: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This is not a company-wide disease — it is a localized infection. A blanket retention program would protect teams that don't need it while leaving the highest-risk micro-climates untouched.</a:t>
            </a:r>
            <a:endParaRPr lang="en-US" sz="1200" dirty="0"/>
          </a:p>
          <a:p>
            <a:pPr indent="0" marL="0">
              <a:buNone/>
            </a:pPr>
            <a:endParaRPr lang="en-US" sz="1200" dirty="0"/>
          </a:p>
          <a:p>
            <a:pPr indent="0" marL="0">
              <a:buNone/>
            </a:pPr>
            <a:r>
              <a:rPr lang="en-US" sz="1200" b="1" dirty="0">
                <a:solidFill>
                  <a:srgbClr val="01374A"/>
                </a:solidFill>
                <a:latin typeface="Calibri" pitchFamily="34" charset="0"/>
                <a:ea typeface="Calibri" pitchFamily="34" charset="-122"/>
                <a:cs typeface="Calibri" pitchFamily="34" charset="-120"/>
              </a:rPr>
              <a:t>Action:</a:t>
            </a:r>
            <a:endParaRPr lang="en-US" sz="1200" dirty="0"/>
          </a:p>
          <a:p>
            <a:pPr indent="0" marL="0">
              <a:buNone/>
            </a:pPr>
            <a:r>
              <a:rPr lang="en-US" sz="1200" b="1" dirty="0">
                <a:solidFill>
                  <a:srgbClr val="028090"/>
                </a:solidFill>
                <a:latin typeface="Calibri" pitchFamily="34" charset="0"/>
                <a:ea typeface="Calibri" pitchFamily="34" charset="-122"/>
                <a:cs typeface="Calibri" pitchFamily="34" charset="-120"/>
              </a:rPr>
              <a:t>Targeted leadership coaching before any global initiative. Treat the root, not the symptom.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400" b="1" dirty="0">
                <a:solidFill>
                  <a:srgbClr val="01374A"/>
                </a:solidFill>
                <a:latin typeface="Calibri" pitchFamily="34" charset="0"/>
                <a:ea typeface="Calibri" pitchFamily="34" charset="-122"/>
                <a:cs typeface="Calibri" pitchFamily="34" charset="-120"/>
              </a:rPr>
              <a:t>Paradox 3: Culture over Cash</a:t>
            </a:r>
            <a:endParaRPr lang="en-US" sz="2400" dirty="0"/>
          </a:p>
        </p:txBody>
      </p:sp>
      <p:sp>
        <p:nvSpPr>
          <p:cNvPr id="3" name="Shape 1"/>
          <p:cNvSpPr/>
          <p:nvPr/>
        </p:nvSpPr>
        <p:spPr>
          <a:xfrm>
            <a:off x="0" y="0"/>
            <a:ext cx="109728" cy="5143500"/>
          </a:xfrm>
          <a:prstGeom prst="rect">
            <a:avLst/>
          </a:prstGeom>
          <a:solidFill>
            <a:srgbClr val="028090"/>
          </a:solidFill>
          <a:ln w="12700">
            <a:solidFill>
              <a:srgbClr val="028090"/>
            </a:solidFill>
            <a:prstDash val="solid"/>
          </a:ln>
        </p:spPr>
      </p:sp>
      <p:graphicFrame>
        <p:nvGraphicFramePr>
          <p:cNvPr id="4" name="Chart 0" descr=""/>
          <p:cNvGraphicFramePr/>
          <p:nvPr/>
        </p:nvGraphicFramePr>
        <p:xfrm>
          <a:off x="365760" y="777240"/>
          <a:ext cx="5029200" cy="36576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777240"/>
            <a:ext cx="3200400" cy="1325880"/>
          </a:xfrm>
          <a:prstGeom prst="rect">
            <a:avLst/>
          </a:prstGeom>
          <a:solidFill>
            <a:srgbClr val="FFF3E0"/>
          </a:solidFill>
          <a:ln w="12700">
            <a:solidFill>
              <a:srgbClr val="F4A261"/>
            </a:solidFill>
            <a:prstDash val="solid"/>
          </a:ln>
        </p:spPr>
      </p:sp>
      <p:sp>
        <p:nvSpPr>
          <p:cNvPr id="6" name="Text 3"/>
          <p:cNvSpPr/>
          <p:nvPr/>
        </p:nvSpPr>
        <p:spPr>
          <a:xfrm>
            <a:off x="5669280" y="822960"/>
            <a:ext cx="3017520" cy="320040"/>
          </a:xfrm>
          <a:prstGeom prst="rect">
            <a:avLst/>
          </a:prstGeom>
          <a:noFill/>
          <a:ln/>
        </p:spPr>
        <p:txBody>
          <a:bodyPr wrap="square" rtlCol="0" anchor="ctr"/>
          <a:lstStyle/>
          <a:p>
            <a:pPr indent="0" marL="0">
              <a:buNone/>
            </a:pPr>
            <a:r>
              <a:rPr lang="en-US" sz="1200" b="1" dirty="0">
                <a:solidFill>
                  <a:srgbClr val="7C4A00"/>
                </a:solidFill>
                <a:latin typeface="Calibri" pitchFamily="34" charset="0"/>
                <a:ea typeface="Calibri" pitchFamily="34" charset="-122"/>
                <a:cs typeface="Calibri" pitchFamily="34" charset="-120"/>
              </a:rPr>
              <a:t>Herzberg (1959):</a:t>
            </a:r>
            <a:endParaRPr lang="en-US" sz="1200" dirty="0"/>
          </a:p>
        </p:txBody>
      </p:sp>
      <p:sp>
        <p:nvSpPr>
          <p:cNvPr id="7" name="Text 4"/>
          <p:cNvSpPr/>
          <p:nvPr/>
        </p:nvSpPr>
        <p:spPr>
          <a:xfrm>
            <a:off x="5669280" y="1115568"/>
            <a:ext cx="3017520" cy="822960"/>
          </a:xfrm>
          <a:prstGeom prst="rect">
            <a:avLst/>
          </a:prstGeom>
          <a:noFill/>
          <a:ln/>
        </p:spPr>
        <p:txBody>
          <a:bodyPr wrap="square" rtlCol="0" anchor="ctr"/>
          <a:lstStyle/>
          <a:p>
            <a:pPr indent="0" marL="0">
              <a:buNone/>
            </a:pPr>
            <a:r>
              <a:rPr lang="en-US" sz="1000" i="1" dirty="0">
                <a:solidFill>
                  <a:srgbClr val="7C4A00"/>
                </a:solidFill>
                <a:latin typeface="Calibri" pitchFamily="34" charset="0"/>
                <a:ea typeface="Calibri" pitchFamily="34" charset="-122"/>
                <a:cs typeface="Calibri" pitchFamily="34" charset="-120"/>
              </a:rPr>
              <a:t>'The opposite of job satisfaction is not job dissatisfaction — but rather no job satisfaction.'</a:t>
            </a:r>
            <a:endParaRPr lang="en-US" sz="1000" dirty="0"/>
          </a:p>
        </p:txBody>
      </p:sp>
      <p:sp>
        <p:nvSpPr>
          <p:cNvPr id="8" name="Text 5"/>
          <p:cNvSpPr/>
          <p:nvPr/>
        </p:nvSpPr>
        <p:spPr>
          <a:xfrm>
            <a:off x="5577840" y="2240280"/>
            <a:ext cx="3200400" cy="2606040"/>
          </a:xfrm>
          <a:prstGeom prst="rect">
            <a:avLst/>
          </a:prstGeom>
          <a:noFill/>
          <a:ln/>
        </p:spPr>
        <p:txBody>
          <a:bodyPr wrap="square" rtlCol="0" anchor="t"/>
          <a:lstStyle/>
          <a:p>
            <a:pPr indent="0" marL="0">
              <a:buNone/>
            </a:pPr>
            <a:r>
              <a:rPr lang="en-US" sz="1200" b="1" dirty="0">
                <a:solidFill>
                  <a:srgbClr val="01374A"/>
                </a:solidFill>
                <a:latin typeface="Calibri" pitchFamily="34" charset="0"/>
                <a:ea typeface="Calibri" pitchFamily="34" charset="-122"/>
                <a:cs typeface="Calibri" pitchFamily="34" charset="-120"/>
              </a:rPr>
              <a:t>Critical re-reading:</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'Another position' (20) is often misread as market-driven. But employees who are fulfilled rarely accept competing offers unprompted.</a:t>
            </a:r>
            <a:endParaRPr lang="en-US" sz="1200" dirty="0"/>
          </a:p>
          <a:p>
            <a:pPr indent="0" marL="0">
              <a:buNone/>
            </a:pPr>
            <a:endParaRPr lang="en-US" sz="1200" dirty="0"/>
          </a:p>
          <a:p>
            <a:pPr indent="0" marL="0">
              <a:buNone/>
            </a:pPr>
            <a:r>
              <a:rPr lang="en-US" sz="1200" b="1" dirty="0">
                <a:solidFill>
                  <a:srgbClr val="01374A"/>
                </a:solidFill>
                <a:latin typeface="Calibri" pitchFamily="34" charset="0"/>
                <a:ea typeface="Calibri" pitchFamily="34" charset="-122"/>
                <a:cs typeface="Calibri" pitchFamily="34" charset="-120"/>
              </a:rPr>
              <a:t>Lee &amp; Mitchell (1994) — Unfolding Model:</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'Another position' is the vehicle. 'Unhappy' is the fuel. Treating them as independent causes understates cultural dissatisfaction by ~50%.</a:t>
            </a:r>
            <a:endParaRPr lang="en-US" sz="1200" dirty="0"/>
          </a:p>
          <a:p>
            <a:pPr indent="0" marL="0">
              <a:buNone/>
            </a:pPr>
            <a:endParaRPr lang="en-US" sz="1200" dirty="0"/>
          </a:p>
          <a:p>
            <a:pPr indent="0" marL="0">
              <a:buNone/>
            </a:pPr>
            <a:r>
              <a:rPr lang="en-US" sz="1200" b="1" dirty="0">
                <a:solidFill>
                  <a:srgbClr val="01374A"/>
                </a:solidFill>
                <a:latin typeface="Calibri" pitchFamily="34" charset="0"/>
                <a:ea typeface="Calibri" pitchFamily="34" charset="-122"/>
                <a:cs typeface="Calibri" pitchFamily="34" charset="-120"/>
              </a:rPr>
              <a:t>Intervention:</a:t>
            </a:r>
            <a:endParaRPr lang="en-US" sz="1200" dirty="0"/>
          </a:p>
          <a:p>
            <a:pPr indent="0" marL="0">
              <a:buNone/>
            </a:pPr>
            <a:r>
              <a:rPr lang="en-US" sz="1200" b="1" dirty="0">
                <a:solidFill>
                  <a:srgbClr val="028090"/>
                </a:solidFill>
                <a:latin typeface="Calibri" pitchFamily="34" charset="0"/>
                <a:ea typeface="Calibri" pitchFamily="34" charset="-122"/>
                <a:cs typeface="Calibri" pitchFamily="34" charset="-120"/>
              </a:rPr>
              <a:t>Cultural intervention is more urgent than a general salary raise.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400" b="1" dirty="0">
                <a:solidFill>
                  <a:srgbClr val="01374A"/>
                </a:solidFill>
                <a:latin typeface="Calibri" pitchFamily="34" charset="0"/>
                <a:ea typeface="Calibri" pitchFamily="34" charset="-122"/>
                <a:cs typeface="Calibri" pitchFamily="34" charset="-120"/>
              </a:rPr>
              <a:t>Structural Pay Equity: Department-Level Analysis</a:t>
            </a:r>
            <a:endParaRPr lang="en-US" sz="2400" dirty="0"/>
          </a:p>
        </p:txBody>
      </p:sp>
      <p:sp>
        <p:nvSpPr>
          <p:cNvPr id="3" name="Shape 1"/>
          <p:cNvSpPr/>
          <p:nvPr/>
        </p:nvSpPr>
        <p:spPr>
          <a:xfrm>
            <a:off x="0" y="0"/>
            <a:ext cx="109728" cy="5143500"/>
          </a:xfrm>
          <a:prstGeom prst="rect">
            <a:avLst/>
          </a:prstGeom>
          <a:solidFill>
            <a:srgbClr val="028090"/>
          </a:solidFill>
          <a:ln w="12700">
            <a:solidFill>
              <a:srgbClr val="028090"/>
            </a:solidFill>
            <a:prstDash val="solid"/>
          </a:ln>
        </p:spPr>
      </p:sp>
      <p:graphicFrame>
        <p:nvGraphicFramePr>
          <p:cNvPr id="4" name="Chart 0" descr=""/>
          <p:cNvGraphicFramePr/>
          <p:nvPr/>
        </p:nvGraphicFramePr>
        <p:xfrm>
          <a:off x="365760" y="777240"/>
          <a:ext cx="502920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777240"/>
            <a:ext cx="3200400" cy="1188720"/>
          </a:xfrm>
          <a:prstGeom prst="rect">
            <a:avLst/>
          </a:prstGeom>
          <a:solidFill>
            <a:srgbClr val="EFF9F8"/>
          </a:solidFill>
          <a:ln w="12700">
            <a:solidFill>
              <a:srgbClr val="B2E4DE"/>
            </a:solidFill>
            <a:prstDash val="solid"/>
          </a:ln>
        </p:spPr>
      </p:sp>
      <p:sp>
        <p:nvSpPr>
          <p:cNvPr id="6" name="Text 3"/>
          <p:cNvSpPr/>
          <p:nvPr/>
        </p:nvSpPr>
        <p:spPr>
          <a:xfrm>
            <a:off x="5669280" y="822960"/>
            <a:ext cx="3017520" cy="320040"/>
          </a:xfrm>
          <a:prstGeom prst="rect">
            <a:avLst/>
          </a:prstGeom>
          <a:noFill/>
          <a:ln/>
        </p:spPr>
        <p:txBody>
          <a:bodyPr wrap="square" rtlCol="0" anchor="ctr"/>
          <a:lstStyle/>
          <a:p>
            <a:pPr indent="0" marL="0">
              <a:buNone/>
            </a:pPr>
            <a:r>
              <a:rPr lang="en-US" sz="1200" b="1" dirty="0">
                <a:solidFill>
                  <a:srgbClr val="01374A"/>
                </a:solidFill>
                <a:latin typeface="Calibri" pitchFamily="34" charset="0"/>
                <a:ea typeface="Calibri" pitchFamily="34" charset="-122"/>
                <a:cs typeface="Calibri" pitchFamily="34" charset="-120"/>
              </a:rPr>
              <a:t>Salary ↔ SpecialProjectsCount</a:t>
            </a:r>
            <a:endParaRPr lang="en-US" sz="1200" dirty="0"/>
          </a:p>
        </p:txBody>
      </p:sp>
      <p:sp>
        <p:nvSpPr>
          <p:cNvPr id="7" name="Text 4"/>
          <p:cNvSpPr/>
          <p:nvPr/>
        </p:nvSpPr>
        <p:spPr>
          <a:xfrm>
            <a:off x="5669280" y="1115568"/>
            <a:ext cx="3017520" cy="365760"/>
          </a:xfrm>
          <a:prstGeom prst="rect">
            <a:avLst/>
          </a:prstGeom>
          <a:noFill/>
          <a:ln/>
        </p:spPr>
        <p:txBody>
          <a:bodyPr wrap="square" rtlCol="0" anchor="ctr"/>
          <a:lstStyle/>
          <a:p>
            <a:pPr indent="0" marL="0">
              <a:buNone/>
            </a:pPr>
            <a:r>
              <a:rPr lang="en-US" sz="2000" b="1" dirty="0">
                <a:solidFill>
                  <a:srgbClr val="028090"/>
                </a:solidFill>
                <a:latin typeface="Calibri" pitchFamily="34" charset="0"/>
                <a:ea typeface="Calibri" pitchFamily="34" charset="-122"/>
                <a:cs typeface="Calibri" pitchFamily="34" charset="-120"/>
              </a:rPr>
              <a:t>Correlation: 0.508</a:t>
            </a:r>
            <a:endParaRPr lang="en-US" sz="2000" dirty="0"/>
          </a:p>
        </p:txBody>
      </p:sp>
      <p:sp>
        <p:nvSpPr>
          <p:cNvPr id="8" name="Text 5"/>
          <p:cNvSpPr/>
          <p:nvPr/>
        </p:nvSpPr>
        <p:spPr>
          <a:xfrm>
            <a:off x="5669280" y="1463040"/>
            <a:ext cx="3017520" cy="32004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IT/IS gap driven by project access, not direct bias</a:t>
            </a:r>
            <a:endParaRPr lang="en-US" sz="1000" dirty="0"/>
          </a:p>
        </p:txBody>
      </p:sp>
      <p:sp>
        <p:nvSpPr>
          <p:cNvPr id="9" name="Text 6"/>
          <p:cNvSpPr/>
          <p:nvPr/>
        </p:nvSpPr>
        <p:spPr>
          <a:xfrm>
            <a:off x="5577840" y="2103120"/>
            <a:ext cx="3200400" cy="2743200"/>
          </a:xfrm>
          <a:prstGeom prst="rect">
            <a:avLst/>
          </a:prstGeom>
          <a:noFill/>
          <a:ln/>
        </p:spPr>
        <p:txBody>
          <a:bodyPr wrap="square" rtlCol="0" anchor="t"/>
          <a:lstStyle/>
          <a:p>
            <a:pPr indent="0" marL="0">
              <a:buNone/>
            </a:pPr>
            <a:r>
              <a:rPr lang="en-US" sz="1200" b="1" dirty="0">
                <a:solidFill>
                  <a:srgbClr val="01374A"/>
                </a:solidFill>
                <a:latin typeface="Calibri" pitchFamily="34" charset="0"/>
                <a:ea typeface="Calibri" pitchFamily="34" charset="-122"/>
                <a:cs typeface="Calibri" pitchFamily="34" charset="-120"/>
              </a:rPr>
              <a:t>Root cause analysis (Castilla, 2008):</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High-visibility projects → more experience → stronger salary negotiation leverage. If assignment is informally biased, the pay gap becomes self-reinforcing over time.</a:t>
            </a:r>
            <a:endParaRPr lang="en-US" sz="1200" dirty="0"/>
          </a:p>
          <a:p>
            <a:pPr indent="0" marL="0">
              <a:buNone/>
            </a:pPr>
            <a:endParaRPr lang="en-US" sz="1200" dirty="0"/>
          </a:p>
          <a:p>
            <a:pPr indent="0" marL="0">
              <a:buNone/>
            </a:pPr>
            <a:r>
              <a:rPr lang="en-US" sz="1200" b="1" dirty="0">
                <a:solidFill>
                  <a:srgbClr val="01374A"/>
                </a:solidFill>
                <a:latin typeface="Calibri" pitchFamily="34" charset="0"/>
                <a:ea typeface="Calibri" pitchFamily="34" charset="-122"/>
                <a:cs typeface="Calibri" pitchFamily="34" charset="-120"/>
              </a:rPr>
              <a:t>Key observation: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Sales and Software Engineering show female salary advantage — the gap is department-specific, not systemic company-wide bias.</a:t>
            </a:r>
            <a:endParaRPr lang="en-US" sz="1200" dirty="0"/>
          </a:p>
          <a:p>
            <a:pPr indent="0" marL="0">
              <a:buNone/>
            </a:pPr>
            <a:endParaRPr lang="en-US" sz="1200" dirty="0"/>
          </a:p>
          <a:p>
            <a:pPr indent="0" marL="0">
              <a:buNone/>
            </a:pPr>
            <a:r>
              <a:rPr lang="en-US" sz="1200" b="1" dirty="0">
                <a:solidFill>
                  <a:srgbClr val="01374A"/>
                </a:solidFill>
                <a:latin typeface="Calibri" pitchFamily="34" charset="0"/>
                <a:ea typeface="Calibri" pitchFamily="34" charset="-122"/>
                <a:cs typeface="Calibri" pitchFamily="34" charset="-120"/>
              </a:rPr>
              <a:t>Intervention:</a:t>
            </a:r>
            <a:endParaRPr lang="en-US" sz="1200" dirty="0"/>
          </a:p>
          <a:p>
            <a:pPr indent="0" marL="0">
              <a:buNone/>
            </a:pPr>
            <a:r>
              <a:rPr lang="en-US" sz="1200" b="1" dirty="0">
                <a:solidFill>
                  <a:srgbClr val="028090"/>
                </a:solidFill>
                <a:latin typeface="Calibri" pitchFamily="34" charset="0"/>
                <a:ea typeface="Calibri" pitchFamily="34" charset="-122"/>
                <a:cs typeface="Calibri" pitchFamily="34" charset="-120"/>
              </a:rPr>
              <a:t>Audit Special Project assignment criteria in IT/IS. Close the gap at source — career access — not at outcome — base salary.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1374A"/>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Strategic Framework: A.B.E.</a:t>
            </a:r>
            <a:endParaRPr lang="en-US" sz="2600" dirty="0"/>
          </a:p>
        </p:txBody>
      </p:sp>
      <p:sp>
        <p:nvSpPr>
          <p:cNvPr id="3" name="Text 1"/>
          <p:cNvSpPr/>
          <p:nvPr/>
        </p:nvSpPr>
        <p:spPr>
          <a:xfrm>
            <a:off x="457200" y="667512"/>
            <a:ext cx="8229600" cy="320040"/>
          </a:xfrm>
          <a:prstGeom prst="rect">
            <a:avLst/>
          </a:prstGeom>
          <a:noFill/>
          <a:ln/>
        </p:spPr>
        <p:txBody>
          <a:bodyPr wrap="square" rtlCol="0" anchor="ctr"/>
          <a:lstStyle/>
          <a:p>
            <a:pPr indent="0" marL="0">
              <a:buNone/>
            </a:pPr>
            <a:r>
              <a:rPr lang="en-US" sz="1200" i="1" dirty="0">
                <a:solidFill>
                  <a:srgbClr val="7EDED6"/>
                </a:solidFill>
                <a:latin typeface="Calibri" pitchFamily="34" charset="0"/>
                <a:ea typeface="Calibri" pitchFamily="34" charset="-122"/>
                <a:cs typeface="Calibri" pitchFamily="34" charset="-120"/>
              </a:rPr>
              <a:t>Three surgical interventions — each targeting a specific root cause</a:t>
            </a:r>
            <a:endParaRPr lang="en-US" sz="1200" dirty="0"/>
          </a:p>
        </p:txBody>
      </p:sp>
      <p:sp>
        <p:nvSpPr>
          <p:cNvPr id="4" name="Shape 2"/>
          <p:cNvSpPr/>
          <p:nvPr/>
        </p:nvSpPr>
        <p:spPr>
          <a:xfrm>
            <a:off x="274320" y="1143000"/>
            <a:ext cx="2697480" cy="3749040"/>
          </a:xfrm>
          <a:prstGeom prst="rect">
            <a:avLst/>
          </a:prstGeom>
          <a:solidFill>
            <a:srgbClr val="013D50"/>
          </a:solidFill>
          <a:ln w="12700">
            <a:solidFill>
              <a:srgbClr val="025D75"/>
            </a:solidFill>
            <a:prstDash val="solid"/>
          </a:ln>
        </p:spPr>
      </p:sp>
      <p:sp>
        <p:nvSpPr>
          <p:cNvPr id="5" name="Shape 3"/>
          <p:cNvSpPr/>
          <p:nvPr/>
        </p:nvSpPr>
        <p:spPr>
          <a:xfrm>
            <a:off x="274320" y="1143000"/>
            <a:ext cx="2697480" cy="548640"/>
          </a:xfrm>
          <a:prstGeom prst="rect">
            <a:avLst/>
          </a:prstGeom>
          <a:solidFill>
            <a:srgbClr val="02C39A"/>
          </a:solidFill>
          <a:ln w="12700">
            <a:solidFill>
              <a:srgbClr val="02C39A"/>
            </a:solidFill>
            <a:prstDash val="solid"/>
          </a:ln>
        </p:spPr>
      </p:sp>
      <p:sp>
        <p:nvSpPr>
          <p:cNvPr id="6" name="Text 4"/>
          <p:cNvSpPr/>
          <p:nvPr/>
        </p:nvSpPr>
        <p:spPr>
          <a:xfrm>
            <a:off x="365760" y="1170432"/>
            <a:ext cx="2514600" cy="457200"/>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A — ACCOUNTABILITY</a:t>
            </a:r>
            <a:endParaRPr lang="en-US" sz="1300" dirty="0"/>
          </a:p>
        </p:txBody>
      </p:sp>
      <p:sp>
        <p:nvSpPr>
          <p:cNvPr id="7" name="Text 5"/>
          <p:cNvSpPr/>
          <p:nvPr/>
        </p:nvSpPr>
        <p:spPr>
          <a:xfrm>
            <a:off x="384048" y="1828800"/>
            <a:ext cx="2468880" cy="256032"/>
          </a:xfrm>
          <a:prstGeom prst="rect">
            <a:avLst/>
          </a:prstGeom>
          <a:noFill/>
          <a:ln/>
        </p:spPr>
        <p:txBody>
          <a:bodyPr wrap="square" rtlCol="0" anchor="ctr"/>
          <a:lstStyle/>
          <a:p>
            <a:pPr indent="0" marL="0">
              <a:buNone/>
            </a:pPr>
            <a:r>
              <a:rPr lang="en-US" sz="1000" b="1" dirty="0">
                <a:solidFill>
                  <a:srgbClr val="7EDED6"/>
                </a:solidFill>
                <a:latin typeface="Calibri" pitchFamily="34" charset="0"/>
                <a:ea typeface="Calibri" pitchFamily="34" charset="-122"/>
                <a:cs typeface="Calibri" pitchFamily="34" charset="-120"/>
              </a:rPr>
              <a:t>Issue:</a:t>
            </a:r>
            <a:endParaRPr lang="en-US" sz="1000" dirty="0"/>
          </a:p>
        </p:txBody>
      </p:sp>
      <p:sp>
        <p:nvSpPr>
          <p:cNvPr id="8" name="Text 6"/>
          <p:cNvSpPr/>
          <p:nvPr/>
        </p:nvSpPr>
        <p:spPr>
          <a:xfrm>
            <a:off x="384048" y="2057400"/>
            <a:ext cx="2468880" cy="91440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Two managers drive &gt;60% attrition in their teams — localized, not company-wide</a:t>
            </a:r>
            <a:endParaRPr lang="en-US" sz="1000" dirty="0"/>
          </a:p>
        </p:txBody>
      </p:sp>
      <p:sp>
        <p:nvSpPr>
          <p:cNvPr id="9" name="Text 7"/>
          <p:cNvSpPr/>
          <p:nvPr/>
        </p:nvSpPr>
        <p:spPr>
          <a:xfrm>
            <a:off x="384048" y="3017520"/>
            <a:ext cx="2468880" cy="256032"/>
          </a:xfrm>
          <a:prstGeom prst="rect">
            <a:avLst/>
          </a:prstGeom>
          <a:noFill/>
          <a:ln/>
        </p:spPr>
        <p:txBody>
          <a:bodyPr wrap="square" rtlCol="0" anchor="ctr"/>
          <a:lstStyle/>
          <a:p>
            <a:pPr indent="0" marL="0">
              <a:buNone/>
            </a:pPr>
            <a:r>
              <a:rPr lang="en-US" sz="1000" b="1" dirty="0">
                <a:solidFill>
                  <a:srgbClr val="7EDED6"/>
                </a:solidFill>
                <a:latin typeface="Calibri" pitchFamily="34" charset="0"/>
                <a:ea typeface="Calibri" pitchFamily="34" charset="-122"/>
                <a:cs typeface="Calibri" pitchFamily="34" charset="-120"/>
              </a:rPr>
              <a:t>Intervention:</a:t>
            </a:r>
            <a:endParaRPr lang="en-US" sz="1000" dirty="0"/>
          </a:p>
        </p:txBody>
      </p:sp>
      <p:sp>
        <p:nvSpPr>
          <p:cNvPr id="10" name="Text 8"/>
          <p:cNvSpPr/>
          <p:nvPr/>
        </p:nvSpPr>
        <p:spPr>
          <a:xfrm>
            <a:off x="384048" y="3246120"/>
            <a:ext cx="2468880" cy="82296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Structured behavioral coaching for high-attrition managers + monthly team pulse surveys</a:t>
            </a:r>
            <a:endParaRPr lang="en-US" sz="1000" dirty="0"/>
          </a:p>
        </p:txBody>
      </p:sp>
      <p:sp>
        <p:nvSpPr>
          <p:cNvPr id="11" name="Text 9"/>
          <p:cNvSpPr/>
          <p:nvPr/>
        </p:nvSpPr>
        <p:spPr>
          <a:xfrm>
            <a:off x="384048" y="4114800"/>
            <a:ext cx="2468880" cy="228600"/>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Why:</a:t>
            </a:r>
            <a:endParaRPr lang="en-US" sz="900" dirty="0"/>
          </a:p>
        </p:txBody>
      </p:sp>
      <p:sp>
        <p:nvSpPr>
          <p:cNvPr id="12" name="Text 10"/>
          <p:cNvSpPr/>
          <p:nvPr/>
        </p:nvSpPr>
        <p:spPr>
          <a:xfrm>
            <a:off x="384048" y="4315968"/>
            <a:ext cx="2468880" cy="457200"/>
          </a:xfrm>
          <a:prstGeom prst="rect">
            <a:avLst/>
          </a:prstGeom>
          <a:noFill/>
          <a:ln/>
        </p:spPr>
        <p:txBody>
          <a:bodyPr wrap="square" rtlCol="0" anchor="t"/>
          <a:lstStyle/>
          <a:p>
            <a:pPr indent="0" marL="0">
              <a:buNone/>
            </a:pPr>
            <a:r>
              <a:rPr lang="en-US" sz="900" dirty="0">
                <a:solidFill>
                  <a:srgbClr val="7EDED6"/>
                </a:solidFill>
                <a:latin typeface="Calibri" pitchFamily="34" charset="0"/>
                <a:ea typeface="Calibri" pitchFamily="34" charset="-122"/>
                <a:cs typeface="Calibri" pitchFamily="34" charset="-120"/>
              </a:rPr>
              <a:t>Localized problems require localized interventions. Gallup (2015): managers = 70% of engagement variance.</a:t>
            </a:r>
            <a:endParaRPr lang="en-US" sz="900" dirty="0"/>
          </a:p>
        </p:txBody>
      </p:sp>
      <p:sp>
        <p:nvSpPr>
          <p:cNvPr id="13" name="Shape 11"/>
          <p:cNvSpPr/>
          <p:nvPr/>
        </p:nvSpPr>
        <p:spPr>
          <a:xfrm>
            <a:off x="3154680" y="1143000"/>
            <a:ext cx="2697480" cy="3749040"/>
          </a:xfrm>
          <a:prstGeom prst="rect">
            <a:avLst/>
          </a:prstGeom>
          <a:solidFill>
            <a:srgbClr val="013D50"/>
          </a:solidFill>
          <a:ln w="12700">
            <a:solidFill>
              <a:srgbClr val="025D75"/>
            </a:solidFill>
            <a:prstDash val="solid"/>
          </a:ln>
        </p:spPr>
      </p:sp>
      <p:sp>
        <p:nvSpPr>
          <p:cNvPr id="14" name="Shape 12"/>
          <p:cNvSpPr/>
          <p:nvPr/>
        </p:nvSpPr>
        <p:spPr>
          <a:xfrm>
            <a:off x="3154680" y="1143000"/>
            <a:ext cx="2697480" cy="548640"/>
          </a:xfrm>
          <a:prstGeom prst="rect">
            <a:avLst/>
          </a:prstGeom>
          <a:solidFill>
            <a:srgbClr val="02C39A"/>
          </a:solidFill>
          <a:ln w="12700">
            <a:solidFill>
              <a:srgbClr val="02C39A"/>
            </a:solidFill>
            <a:prstDash val="solid"/>
          </a:ln>
        </p:spPr>
      </p:sp>
      <p:sp>
        <p:nvSpPr>
          <p:cNvPr id="15" name="Text 13"/>
          <p:cNvSpPr/>
          <p:nvPr/>
        </p:nvSpPr>
        <p:spPr>
          <a:xfrm>
            <a:off x="3246120" y="1170432"/>
            <a:ext cx="2514600" cy="457200"/>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B — BURNOUT SHIELD</a:t>
            </a:r>
            <a:endParaRPr lang="en-US" sz="1300" dirty="0"/>
          </a:p>
        </p:txBody>
      </p:sp>
      <p:sp>
        <p:nvSpPr>
          <p:cNvPr id="16" name="Text 14"/>
          <p:cNvSpPr/>
          <p:nvPr/>
        </p:nvSpPr>
        <p:spPr>
          <a:xfrm>
            <a:off x="3264408" y="1828800"/>
            <a:ext cx="2468880" cy="256032"/>
          </a:xfrm>
          <a:prstGeom prst="rect">
            <a:avLst/>
          </a:prstGeom>
          <a:noFill/>
          <a:ln/>
        </p:spPr>
        <p:txBody>
          <a:bodyPr wrap="square" rtlCol="0" anchor="ctr"/>
          <a:lstStyle/>
          <a:p>
            <a:pPr indent="0" marL="0">
              <a:buNone/>
            </a:pPr>
            <a:r>
              <a:rPr lang="en-US" sz="1000" b="1" dirty="0">
                <a:solidFill>
                  <a:srgbClr val="7EDED6"/>
                </a:solidFill>
                <a:latin typeface="Calibri" pitchFamily="34" charset="0"/>
                <a:ea typeface="Calibri" pitchFamily="34" charset="-122"/>
                <a:cs typeface="Calibri" pitchFamily="34" charset="-120"/>
              </a:rPr>
              <a:t>Issue:</a:t>
            </a:r>
            <a:endParaRPr lang="en-US" sz="1000" dirty="0"/>
          </a:p>
        </p:txBody>
      </p:sp>
      <p:sp>
        <p:nvSpPr>
          <p:cNvPr id="17" name="Text 15"/>
          <p:cNvSpPr/>
          <p:nvPr/>
        </p:nvSpPr>
        <p:spPr>
          <a:xfrm>
            <a:off x="3264408" y="2057400"/>
            <a:ext cx="2468880" cy="91440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Exceeds performers show high absence rates — burnout signal invisible to standard HR metrics</a:t>
            </a:r>
            <a:endParaRPr lang="en-US" sz="1000" dirty="0"/>
          </a:p>
        </p:txBody>
      </p:sp>
      <p:sp>
        <p:nvSpPr>
          <p:cNvPr id="18" name="Text 16"/>
          <p:cNvSpPr/>
          <p:nvPr/>
        </p:nvSpPr>
        <p:spPr>
          <a:xfrm>
            <a:off x="3264408" y="3017520"/>
            <a:ext cx="2468880" cy="256032"/>
          </a:xfrm>
          <a:prstGeom prst="rect">
            <a:avLst/>
          </a:prstGeom>
          <a:noFill/>
          <a:ln/>
        </p:spPr>
        <p:txBody>
          <a:bodyPr wrap="square" rtlCol="0" anchor="ctr"/>
          <a:lstStyle/>
          <a:p>
            <a:pPr indent="0" marL="0">
              <a:buNone/>
            </a:pPr>
            <a:r>
              <a:rPr lang="en-US" sz="1000" b="1" dirty="0">
                <a:solidFill>
                  <a:srgbClr val="7EDED6"/>
                </a:solidFill>
                <a:latin typeface="Calibri" pitchFamily="34" charset="0"/>
                <a:ea typeface="Calibri" pitchFamily="34" charset="-122"/>
                <a:cs typeface="Calibri" pitchFamily="34" charset="-120"/>
              </a:rPr>
              <a:t>Intervention:</a:t>
            </a:r>
            <a:endParaRPr lang="en-US" sz="1000" dirty="0"/>
          </a:p>
        </p:txBody>
      </p:sp>
      <p:sp>
        <p:nvSpPr>
          <p:cNvPr id="19" name="Text 17"/>
          <p:cNvSpPr/>
          <p:nvPr/>
        </p:nvSpPr>
        <p:spPr>
          <a:xfrm>
            <a:off x="3264408" y="3246120"/>
            <a:ext cx="2468880" cy="82296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Automatic Stay Interview trigger: PerformanceScore = 'Exceeds' AND Absences &gt; 10</a:t>
            </a:r>
            <a:endParaRPr lang="en-US" sz="1000" dirty="0"/>
          </a:p>
        </p:txBody>
      </p:sp>
      <p:sp>
        <p:nvSpPr>
          <p:cNvPr id="20" name="Text 18"/>
          <p:cNvSpPr/>
          <p:nvPr/>
        </p:nvSpPr>
        <p:spPr>
          <a:xfrm>
            <a:off x="3264408" y="4114800"/>
            <a:ext cx="2468880" cy="228600"/>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Why:</a:t>
            </a:r>
            <a:endParaRPr lang="en-US" sz="900" dirty="0"/>
          </a:p>
        </p:txBody>
      </p:sp>
      <p:sp>
        <p:nvSpPr>
          <p:cNvPr id="21" name="Text 19"/>
          <p:cNvSpPr/>
          <p:nvPr/>
        </p:nvSpPr>
        <p:spPr>
          <a:xfrm>
            <a:off x="3264408" y="4315968"/>
            <a:ext cx="2468880" cy="457200"/>
          </a:xfrm>
          <a:prstGeom prst="rect">
            <a:avLst/>
          </a:prstGeom>
          <a:noFill/>
          <a:ln/>
        </p:spPr>
        <p:txBody>
          <a:bodyPr wrap="square" rtlCol="0" anchor="t"/>
          <a:lstStyle/>
          <a:p>
            <a:pPr indent="0" marL="0">
              <a:buNone/>
            </a:pPr>
            <a:r>
              <a:rPr lang="en-US" sz="900" dirty="0">
                <a:solidFill>
                  <a:srgbClr val="7EDED6"/>
                </a:solidFill>
                <a:latin typeface="Calibri" pitchFamily="34" charset="0"/>
                <a:ea typeface="Calibri" pitchFamily="34" charset="-122"/>
                <a:cs typeface="Calibri" pitchFamily="34" charset="-120"/>
              </a:rPr>
              <a:t>Intervention at the right moment (high performance + high absence), before disengagement sets in.</a:t>
            </a:r>
            <a:endParaRPr lang="en-US" sz="900" dirty="0"/>
          </a:p>
        </p:txBody>
      </p:sp>
      <p:sp>
        <p:nvSpPr>
          <p:cNvPr id="22" name="Shape 20"/>
          <p:cNvSpPr/>
          <p:nvPr/>
        </p:nvSpPr>
        <p:spPr>
          <a:xfrm>
            <a:off x="6035040" y="1143000"/>
            <a:ext cx="2697480" cy="3749040"/>
          </a:xfrm>
          <a:prstGeom prst="rect">
            <a:avLst/>
          </a:prstGeom>
          <a:solidFill>
            <a:srgbClr val="013D50"/>
          </a:solidFill>
          <a:ln w="12700">
            <a:solidFill>
              <a:srgbClr val="025D75"/>
            </a:solidFill>
            <a:prstDash val="solid"/>
          </a:ln>
        </p:spPr>
      </p:sp>
      <p:sp>
        <p:nvSpPr>
          <p:cNvPr id="23" name="Shape 21"/>
          <p:cNvSpPr/>
          <p:nvPr/>
        </p:nvSpPr>
        <p:spPr>
          <a:xfrm>
            <a:off x="6035040" y="1143000"/>
            <a:ext cx="2697480" cy="548640"/>
          </a:xfrm>
          <a:prstGeom prst="rect">
            <a:avLst/>
          </a:prstGeom>
          <a:solidFill>
            <a:srgbClr val="02C39A"/>
          </a:solidFill>
          <a:ln w="12700">
            <a:solidFill>
              <a:srgbClr val="02C39A"/>
            </a:solidFill>
            <a:prstDash val="solid"/>
          </a:ln>
        </p:spPr>
      </p:sp>
      <p:sp>
        <p:nvSpPr>
          <p:cNvPr id="24" name="Text 22"/>
          <p:cNvSpPr/>
          <p:nvPr/>
        </p:nvSpPr>
        <p:spPr>
          <a:xfrm>
            <a:off x="6126480" y="1170432"/>
            <a:ext cx="2514600" cy="457200"/>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E — EQUITY</a:t>
            </a:r>
            <a:endParaRPr lang="en-US" sz="1300" dirty="0"/>
          </a:p>
        </p:txBody>
      </p:sp>
      <p:sp>
        <p:nvSpPr>
          <p:cNvPr id="25" name="Text 23"/>
          <p:cNvSpPr/>
          <p:nvPr/>
        </p:nvSpPr>
        <p:spPr>
          <a:xfrm>
            <a:off x="6144768" y="1828800"/>
            <a:ext cx="2468880" cy="256032"/>
          </a:xfrm>
          <a:prstGeom prst="rect">
            <a:avLst/>
          </a:prstGeom>
          <a:noFill/>
          <a:ln/>
        </p:spPr>
        <p:txBody>
          <a:bodyPr wrap="square" rtlCol="0" anchor="ctr"/>
          <a:lstStyle/>
          <a:p>
            <a:pPr indent="0" marL="0">
              <a:buNone/>
            </a:pPr>
            <a:r>
              <a:rPr lang="en-US" sz="1000" b="1" dirty="0">
                <a:solidFill>
                  <a:srgbClr val="7EDED6"/>
                </a:solidFill>
                <a:latin typeface="Calibri" pitchFamily="34" charset="0"/>
                <a:ea typeface="Calibri" pitchFamily="34" charset="-122"/>
                <a:cs typeface="Calibri" pitchFamily="34" charset="-120"/>
              </a:rPr>
              <a:t>Issue:</a:t>
            </a:r>
            <a:endParaRPr lang="en-US" sz="1000" dirty="0"/>
          </a:p>
        </p:txBody>
      </p:sp>
      <p:sp>
        <p:nvSpPr>
          <p:cNvPr id="26" name="Text 24"/>
          <p:cNvSpPr/>
          <p:nvPr/>
        </p:nvSpPr>
        <p:spPr>
          <a:xfrm>
            <a:off x="6144768" y="2057400"/>
            <a:ext cx="2468880" cy="91440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IT/IS gender pay gap driven by project access inequality (Salary ↔ Projects corr: 0.51)</a:t>
            </a:r>
            <a:endParaRPr lang="en-US" sz="1000" dirty="0"/>
          </a:p>
        </p:txBody>
      </p:sp>
      <p:sp>
        <p:nvSpPr>
          <p:cNvPr id="27" name="Text 25"/>
          <p:cNvSpPr/>
          <p:nvPr/>
        </p:nvSpPr>
        <p:spPr>
          <a:xfrm>
            <a:off x="6144768" y="3017520"/>
            <a:ext cx="2468880" cy="256032"/>
          </a:xfrm>
          <a:prstGeom prst="rect">
            <a:avLst/>
          </a:prstGeom>
          <a:noFill/>
          <a:ln/>
        </p:spPr>
        <p:txBody>
          <a:bodyPr wrap="square" rtlCol="0" anchor="ctr"/>
          <a:lstStyle/>
          <a:p>
            <a:pPr indent="0" marL="0">
              <a:buNone/>
            </a:pPr>
            <a:r>
              <a:rPr lang="en-US" sz="1000" b="1" dirty="0">
                <a:solidFill>
                  <a:srgbClr val="7EDED6"/>
                </a:solidFill>
                <a:latin typeface="Calibri" pitchFamily="34" charset="0"/>
                <a:ea typeface="Calibri" pitchFamily="34" charset="-122"/>
                <a:cs typeface="Calibri" pitchFamily="34" charset="-120"/>
              </a:rPr>
              <a:t>Intervention:</a:t>
            </a:r>
            <a:endParaRPr lang="en-US" sz="1000" dirty="0"/>
          </a:p>
        </p:txBody>
      </p:sp>
      <p:sp>
        <p:nvSpPr>
          <p:cNvPr id="28" name="Text 26"/>
          <p:cNvSpPr/>
          <p:nvPr/>
        </p:nvSpPr>
        <p:spPr>
          <a:xfrm>
            <a:off x="6144768" y="3246120"/>
            <a:ext cx="2468880" cy="82296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Standardize Special Project assignment criteria in IT/IS with transparent eligibility and documented selection</a:t>
            </a:r>
            <a:endParaRPr lang="en-US" sz="1000" dirty="0"/>
          </a:p>
        </p:txBody>
      </p:sp>
      <p:sp>
        <p:nvSpPr>
          <p:cNvPr id="29" name="Text 27"/>
          <p:cNvSpPr/>
          <p:nvPr/>
        </p:nvSpPr>
        <p:spPr>
          <a:xfrm>
            <a:off x="6144768" y="4114800"/>
            <a:ext cx="2468880" cy="228600"/>
          </a:xfrm>
          <a:prstGeom prst="rect">
            <a:avLst/>
          </a:prstGeom>
          <a:noFill/>
          <a:ln/>
        </p:spPr>
        <p:txBody>
          <a:bodyPr wrap="square" rtlCol="0" anchor="ctr"/>
          <a:lstStyle/>
          <a:p>
            <a:pPr indent="0" marL="0">
              <a:buNone/>
            </a:pPr>
            <a:r>
              <a:rPr lang="en-US" sz="900" b="1" dirty="0">
                <a:solidFill>
                  <a:srgbClr val="02C39A"/>
                </a:solidFill>
                <a:latin typeface="Calibri" pitchFamily="34" charset="0"/>
                <a:ea typeface="Calibri" pitchFamily="34" charset="-122"/>
                <a:cs typeface="Calibri" pitchFamily="34" charset="-120"/>
              </a:rPr>
              <a:t>Why:</a:t>
            </a:r>
            <a:endParaRPr lang="en-US" sz="900" dirty="0"/>
          </a:p>
        </p:txBody>
      </p:sp>
      <p:sp>
        <p:nvSpPr>
          <p:cNvPr id="30" name="Text 28"/>
          <p:cNvSpPr/>
          <p:nvPr/>
        </p:nvSpPr>
        <p:spPr>
          <a:xfrm>
            <a:off x="6144768" y="4315968"/>
            <a:ext cx="2468880" cy="457200"/>
          </a:xfrm>
          <a:prstGeom prst="rect">
            <a:avLst/>
          </a:prstGeom>
          <a:noFill/>
          <a:ln/>
        </p:spPr>
        <p:txBody>
          <a:bodyPr wrap="square" rtlCol="0" anchor="t"/>
          <a:lstStyle/>
          <a:p>
            <a:pPr indent="0" marL="0">
              <a:buNone/>
            </a:pPr>
            <a:r>
              <a:rPr lang="en-US" sz="900" dirty="0">
                <a:solidFill>
                  <a:srgbClr val="7EDED6"/>
                </a:solidFill>
                <a:latin typeface="Calibri" pitchFamily="34" charset="0"/>
                <a:ea typeface="Calibri" pitchFamily="34" charset="-122"/>
                <a:cs typeface="Calibri" pitchFamily="34" charset="-120"/>
              </a:rPr>
              <a:t>Treating the root cause (access inequality) is more durable than treating the outcome (pay disparity).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400" b="1" dirty="0">
                <a:solidFill>
                  <a:srgbClr val="01374A"/>
                </a:solidFill>
                <a:latin typeface="Calibri" pitchFamily="34" charset="0"/>
                <a:ea typeface="Calibri" pitchFamily="34" charset="-122"/>
                <a:cs typeface="Calibri" pitchFamily="34" charset="-120"/>
              </a:rPr>
              <a:t>Business Impact &amp; ROI</a:t>
            </a:r>
            <a:endParaRPr lang="en-US" sz="2400" dirty="0"/>
          </a:p>
        </p:txBody>
      </p:sp>
      <p:sp>
        <p:nvSpPr>
          <p:cNvPr id="3" name="Shape 1"/>
          <p:cNvSpPr/>
          <p:nvPr/>
        </p:nvSpPr>
        <p:spPr>
          <a:xfrm>
            <a:off x="0" y="0"/>
            <a:ext cx="109728" cy="5143500"/>
          </a:xfrm>
          <a:prstGeom prst="rect">
            <a:avLst/>
          </a:prstGeom>
          <a:solidFill>
            <a:srgbClr val="028090"/>
          </a:solidFill>
          <a:ln w="12700">
            <a:solidFill>
              <a:srgbClr val="028090"/>
            </a:solidFill>
            <a:prstDash val="solid"/>
          </a:ln>
        </p:spPr>
      </p:sp>
      <p:sp>
        <p:nvSpPr>
          <p:cNvPr id="4" name="Shape 2"/>
          <p:cNvSpPr/>
          <p:nvPr/>
        </p:nvSpPr>
        <p:spPr>
          <a:xfrm>
            <a:off x="365760" y="960120"/>
            <a:ext cx="8412480" cy="1188720"/>
          </a:xfrm>
          <a:prstGeom prst="rect">
            <a:avLst/>
          </a:prstGeom>
          <a:solidFill>
            <a:srgbClr val="EFF9F8"/>
          </a:solidFill>
          <a:ln w="12700">
            <a:solidFill>
              <a:srgbClr val="B2E4DE"/>
            </a:solidFill>
            <a:prstDash val="solid"/>
          </a:ln>
        </p:spPr>
      </p:sp>
      <p:sp>
        <p:nvSpPr>
          <p:cNvPr id="5" name="Text 3"/>
          <p:cNvSpPr/>
          <p:nvPr/>
        </p:nvSpPr>
        <p:spPr>
          <a:xfrm>
            <a:off x="457200" y="1051560"/>
            <a:ext cx="731520" cy="8229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6" name="Text 4"/>
          <p:cNvSpPr/>
          <p:nvPr/>
        </p:nvSpPr>
        <p:spPr>
          <a:xfrm>
            <a:off x="1280160" y="1033272"/>
            <a:ext cx="7132320" cy="347472"/>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Cost Avoidance</a:t>
            </a:r>
            <a:endParaRPr lang="en-US" sz="1300" dirty="0"/>
          </a:p>
        </p:txBody>
      </p:sp>
      <p:sp>
        <p:nvSpPr>
          <p:cNvPr id="7" name="Text 5"/>
          <p:cNvSpPr/>
          <p:nvPr/>
        </p:nvSpPr>
        <p:spPr>
          <a:xfrm>
            <a:off x="1280160" y="1380744"/>
            <a:ext cx="7132320" cy="713232"/>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Replacing a mid-level employee costs ~1.5× annual salary (SHRM, 2022). Two 'Red Zone' managers driving 60%+ attrition represent a disproportionate share of preventable replacement costs — addressable with a targeted coaching investment.</a:t>
            </a:r>
            <a:endParaRPr lang="en-US" sz="1100" dirty="0"/>
          </a:p>
        </p:txBody>
      </p:sp>
      <p:sp>
        <p:nvSpPr>
          <p:cNvPr id="8" name="Shape 6"/>
          <p:cNvSpPr/>
          <p:nvPr/>
        </p:nvSpPr>
        <p:spPr>
          <a:xfrm>
            <a:off x="365760" y="2286000"/>
            <a:ext cx="8412480" cy="1188720"/>
          </a:xfrm>
          <a:prstGeom prst="rect">
            <a:avLst/>
          </a:prstGeom>
          <a:solidFill>
            <a:srgbClr val="EFF9F8"/>
          </a:solidFill>
          <a:ln w="12700">
            <a:solidFill>
              <a:srgbClr val="B2E4DE"/>
            </a:solidFill>
            <a:prstDash val="solid"/>
          </a:ln>
        </p:spPr>
      </p:sp>
      <p:sp>
        <p:nvSpPr>
          <p:cNvPr id="9" name="Text 7"/>
          <p:cNvSpPr/>
          <p:nvPr/>
        </p:nvSpPr>
        <p:spPr>
          <a:xfrm>
            <a:off x="457200" y="2377440"/>
            <a:ext cx="731520" cy="8229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0" name="Text 8"/>
          <p:cNvSpPr/>
          <p:nvPr/>
        </p:nvSpPr>
        <p:spPr>
          <a:xfrm>
            <a:off x="1280160" y="2359152"/>
            <a:ext cx="7132320" cy="347472"/>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Productivity Protection</a:t>
            </a:r>
            <a:endParaRPr lang="en-US" sz="1300" dirty="0"/>
          </a:p>
        </p:txBody>
      </p:sp>
      <p:sp>
        <p:nvSpPr>
          <p:cNvPr id="11" name="Text 9"/>
          <p:cNvSpPr/>
          <p:nvPr/>
        </p:nvSpPr>
        <p:spPr>
          <a:xfrm>
            <a:off x="1280160" y="2706624"/>
            <a:ext cx="7132320" cy="713232"/>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The Burnout Paradox (High Performance + High Absence) flags the highest-value employees at risk. Leiter &amp; Maslach (2005): burned-out employees who remain operate at reduced capacity for months before resigning — the cost of inaction extends well beyond the eventual replacement.</a:t>
            </a:r>
            <a:endParaRPr lang="en-US" sz="1100" dirty="0"/>
          </a:p>
        </p:txBody>
      </p:sp>
      <p:sp>
        <p:nvSpPr>
          <p:cNvPr id="12" name="Shape 10"/>
          <p:cNvSpPr/>
          <p:nvPr/>
        </p:nvSpPr>
        <p:spPr>
          <a:xfrm>
            <a:off x="365760" y="3611880"/>
            <a:ext cx="8412480" cy="1188720"/>
          </a:xfrm>
          <a:prstGeom prst="rect">
            <a:avLst/>
          </a:prstGeom>
          <a:solidFill>
            <a:srgbClr val="EFF9F8"/>
          </a:solidFill>
          <a:ln w="12700">
            <a:solidFill>
              <a:srgbClr val="B2E4DE"/>
            </a:solidFill>
            <a:prstDash val="solid"/>
          </a:ln>
        </p:spPr>
      </p:sp>
      <p:sp>
        <p:nvSpPr>
          <p:cNvPr id="13" name="Text 11"/>
          <p:cNvSpPr/>
          <p:nvPr/>
        </p:nvSpPr>
        <p:spPr>
          <a:xfrm>
            <a:off x="457200" y="3703320"/>
            <a:ext cx="731520" cy="822960"/>
          </a:xfrm>
          <a:prstGeom prst="rect">
            <a:avLst/>
          </a:prstGeom>
          <a:noFill/>
          <a:ln/>
        </p:spPr>
        <p:txBody>
          <a:bodyPr wrap="square" rtlCol="0" anchor="ctr"/>
          <a:lstStyle/>
          <a:p>
            <a:pPr indent="0" marL="0">
              <a:buNone/>
            </a:pPr>
            <a:r>
              <a:rPr lang="en-US" sz="2400" dirty="0">
                <a:solidFill>
                  <a:srgbClr val="000000"/>
                </a:solidFill>
              </a:rPr>
              <a:t>📊</a:t>
            </a:r>
            <a:endParaRPr lang="en-US" sz="2400" dirty="0"/>
          </a:p>
        </p:txBody>
      </p:sp>
      <p:sp>
        <p:nvSpPr>
          <p:cNvPr id="14" name="Text 12"/>
          <p:cNvSpPr/>
          <p:nvPr/>
        </p:nvSpPr>
        <p:spPr>
          <a:xfrm>
            <a:off x="1280160" y="3685032"/>
            <a:ext cx="7132320" cy="347472"/>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Strategic Repositioning of HR</a:t>
            </a:r>
            <a:endParaRPr lang="en-US" sz="1300" dirty="0"/>
          </a:p>
        </p:txBody>
      </p:sp>
      <p:sp>
        <p:nvSpPr>
          <p:cNvPr id="15" name="Text 13"/>
          <p:cNvSpPr/>
          <p:nvPr/>
        </p:nvSpPr>
        <p:spPr>
          <a:xfrm>
            <a:off x="1280160" y="4032504"/>
            <a:ext cx="7132320" cy="713232"/>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This analysis demonstrates a shift from reactive incident response to evidence-based risk stratification. Not 'why did this person leave?' — but 'who is at risk and what does intervention cost?' HR becomes a predictive function, not a reporting one.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400" b="1" dirty="0">
                <a:solidFill>
                  <a:srgbClr val="01374A"/>
                </a:solidFill>
                <a:latin typeface="Calibri" pitchFamily="34" charset="0"/>
                <a:ea typeface="Calibri" pitchFamily="34" charset="-122"/>
                <a:cs typeface="Calibri" pitchFamily="34" charset="-120"/>
              </a:rPr>
              <a:t>Future Scope: The Next Phase</a:t>
            </a:r>
            <a:endParaRPr lang="en-US" sz="2400" dirty="0"/>
          </a:p>
        </p:txBody>
      </p:sp>
      <p:sp>
        <p:nvSpPr>
          <p:cNvPr id="3" name="Shape 1"/>
          <p:cNvSpPr/>
          <p:nvPr/>
        </p:nvSpPr>
        <p:spPr>
          <a:xfrm>
            <a:off x="0" y="0"/>
            <a:ext cx="109728" cy="5143500"/>
          </a:xfrm>
          <a:prstGeom prst="rect">
            <a:avLst/>
          </a:prstGeom>
          <a:solidFill>
            <a:srgbClr val="028090"/>
          </a:solidFill>
          <a:ln w="12700">
            <a:solidFill>
              <a:srgbClr val="028090"/>
            </a:solidFill>
            <a:prstDash val="solid"/>
          </a:ln>
        </p:spPr>
      </p:sp>
      <p:sp>
        <p:nvSpPr>
          <p:cNvPr id="4" name="Shape 2"/>
          <p:cNvSpPr/>
          <p:nvPr/>
        </p:nvSpPr>
        <p:spPr>
          <a:xfrm>
            <a:off x="365760" y="960120"/>
            <a:ext cx="640080" cy="1188720"/>
          </a:xfrm>
          <a:prstGeom prst="rect">
            <a:avLst/>
          </a:prstGeom>
          <a:solidFill>
            <a:srgbClr val="028090"/>
          </a:solidFill>
          <a:ln w="12700">
            <a:solidFill>
              <a:srgbClr val="028090"/>
            </a:solidFill>
            <a:prstDash val="solid"/>
          </a:ln>
        </p:spPr>
      </p:sp>
      <p:sp>
        <p:nvSpPr>
          <p:cNvPr id="5" name="Text 3"/>
          <p:cNvSpPr/>
          <p:nvPr/>
        </p:nvSpPr>
        <p:spPr>
          <a:xfrm>
            <a:off x="365760" y="1234440"/>
            <a:ext cx="64008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6" name="Shape 4"/>
          <p:cNvSpPr/>
          <p:nvPr/>
        </p:nvSpPr>
        <p:spPr>
          <a:xfrm>
            <a:off x="1097280" y="960120"/>
            <a:ext cx="7680960" cy="1188720"/>
          </a:xfrm>
          <a:prstGeom prst="rect">
            <a:avLst/>
          </a:prstGeom>
          <a:solidFill>
            <a:srgbClr val="EFF9F8"/>
          </a:solidFill>
          <a:ln w="12700">
            <a:solidFill>
              <a:srgbClr val="B2E4DE"/>
            </a:solidFill>
            <a:prstDash val="solid"/>
          </a:ln>
        </p:spPr>
      </p:sp>
      <p:sp>
        <p:nvSpPr>
          <p:cNvPr id="7" name="Text 5"/>
          <p:cNvSpPr/>
          <p:nvPr/>
        </p:nvSpPr>
        <p:spPr>
          <a:xfrm>
            <a:off x="1234440" y="1033272"/>
            <a:ext cx="7406640" cy="365760"/>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Predictive Flight Risk Modeling (ML)</a:t>
            </a:r>
            <a:endParaRPr lang="en-US" sz="1300" dirty="0"/>
          </a:p>
        </p:txBody>
      </p:sp>
      <p:sp>
        <p:nvSpPr>
          <p:cNvPr id="8" name="Text 6"/>
          <p:cNvSpPr/>
          <p:nvPr/>
        </p:nvSpPr>
        <p:spPr>
          <a:xfrm>
            <a:off x="1234440" y="1399032"/>
            <a:ext cx="7406640" cy="713232"/>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A Logistic Regression or Random Forest classifier trained on absence patterns, engagement scores, manager assignment, and tenure would produce individual-level 'Probability of Exit' scores — enabling pre-emptive retention conversations before the resignation letter arrives.</a:t>
            </a:r>
            <a:endParaRPr lang="en-US" sz="1100" dirty="0"/>
          </a:p>
        </p:txBody>
      </p:sp>
      <p:sp>
        <p:nvSpPr>
          <p:cNvPr id="9" name="Shape 7"/>
          <p:cNvSpPr/>
          <p:nvPr/>
        </p:nvSpPr>
        <p:spPr>
          <a:xfrm>
            <a:off x="365760" y="2286000"/>
            <a:ext cx="640080" cy="1188720"/>
          </a:xfrm>
          <a:prstGeom prst="rect">
            <a:avLst/>
          </a:prstGeom>
          <a:solidFill>
            <a:srgbClr val="028090"/>
          </a:solidFill>
          <a:ln w="12700">
            <a:solidFill>
              <a:srgbClr val="028090"/>
            </a:solidFill>
            <a:prstDash val="solid"/>
          </a:ln>
        </p:spPr>
      </p:sp>
      <p:sp>
        <p:nvSpPr>
          <p:cNvPr id="10" name="Text 8"/>
          <p:cNvSpPr/>
          <p:nvPr/>
        </p:nvSpPr>
        <p:spPr>
          <a:xfrm>
            <a:off x="365760" y="2560320"/>
            <a:ext cx="64008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1" name="Shape 9"/>
          <p:cNvSpPr/>
          <p:nvPr/>
        </p:nvSpPr>
        <p:spPr>
          <a:xfrm>
            <a:off x="1097280" y="2286000"/>
            <a:ext cx="7680960" cy="1188720"/>
          </a:xfrm>
          <a:prstGeom prst="rect">
            <a:avLst/>
          </a:prstGeom>
          <a:solidFill>
            <a:srgbClr val="EFF9F8"/>
          </a:solidFill>
          <a:ln w="12700">
            <a:solidFill>
              <a:srgbClr val="B2E4DE"/>
            </a:solidFill>
            <a:prstDash val="solid"/>
          </a:ln>
        </p:spPr>
      </p:sp>
      <p:sp>
        <p:nvSpPr>
          <p:cNvPr id="12" name="Text 10"/>
          <p:cNvSpPr/>
          <p:nvPr/>
        </p:nvSpPr>
        <p:spPr>
          <a:xfrm>
            <a:off x="1234440" y="2359152"/>
            <a:ext cx="7406640" cy="365760"/>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NLP on Exit Interviews</a:t>
            </a:r>
            <a:endParaRPr lang="en-US" sz="1300" dirty="0"/>
          </a:p>
        </p:txBody>
      </p:sp>
      <p:sp>
        <p:nvSpPr>
          <p:cNvPr id="13" name="Text 11"/>
          <p:cNvSpPr/>
          <p:nvPr/>
        </p:nvSpPr>
        <p:spPr>
          <a:xfrm>
            <a:off x="1234440" y="2724912"/>
            <a:ext cx="7406640" cy="713232"/>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Free-text exit survey responses contain what employees mean, not just what they report. Sentiment analysis and topic modeling on the 'unhappy' segment would reveal whether dissatisfaction is driven by management, workload, or organizational values — distinctions invisible to categorical data.</a:t>
            </a:r>
            <a:endParaRPr lang="en-US" sz="1100" dirty="0"/>
          </a:p>
        </p:txBody>
      </p:sp>
      <p:sp>
        <p:nvSpPr>
          <p:cNvPr id="14" name="Shape 12"/>
          <p:cNvSpPr/>
          <p:nvPr/>
        </p:nvSpPr>
        <p:spPr>
          <a:xfrm>
            <a:off x="365760" y="3611880"/>
            <a:ext cx="640080" cy="1188720"/>
          </a:xfrm>
          <a:prstGeom prst="rect">
            <a:avLst/>
          </a:prstGeom>
          <a:solidFill>
            <a:srgbClr val="028090"/>
          </a:solidFill>
          <a:ln w="12700">
            <a:solidFill>
              <a:srgbClr val="028090"/>
            </a:solidFill>
            <a:prstDash val="solid"/>
          </a:ln>
        </p:spPr>
      </p:sp>
      <p:sp>
        <p:nvSpPr>
          <p:cNvPr id="15" name="Text 13"/>
          <p:cNvSpPr/>
          <p:nvPr/>
        </p:nvSpPr>
        <p:spPr>
          <a:xfrm>
            <a:off x="365760" y="3886200"/>
            <a:ext cx="64008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6" name="Shape 14"/>
          <p:cNvSpPr/>
          <p:nvPr/>
        </p:nvSpPr>
        <p:spPr>
          <a:xfrm>
            <a:off x="1097280" y="3611880"/>
            <a:ext cx="7680960" cy="1188720"/>
          </a:xfrm>
          <a:prstGeom prst="rect">
            <a:avLst/>
          </a:prstGeom>
          <a:solidFill>
            <a:srgbClr val="EFF9F8"/>
          </a:solidFill>
          <a:ln w="12700">
            <a:solidFill>
              <a:srgbClr val="B2E4DE"/>
            </a:solidFill>
            <a:prstDash val="solid"/>
          </a:ln>
        </p:spPr>
      </p:sp>
      <p:sp>
        <p:nvSpPr>
          <p:cNvPr id="17" name="Text 15"/>
          <p:cNvSpPr/>
          <p:nvPr/>
        </p:nvSpPr>
        <p:spPr>
          <a:xfrm>
            <a:off x="1234440" y="3685032"/>
            <a:ext cx="7406640" cy="365760"/>
          </a:xfrm>
          <a:prstGeom prst="rect">
            <a:avLst/>
          </a:prstGeom>
          <a:noFill/>
          <a:ln/>
        </p:spPr>
        <p:txBody>
          <a:bodyPr wrap="square" rtlCol="0" anchor="ctr"/>
          <a:lstStyle/>
          <a:p>
            <a:pPr indent="0" marL="0">
              <a:buNone/>
            </a:pPr>
            <a:r>
              <a:rPr lang="en-US" sz="1300" b="1" dirty="0">
                <a:solidFill>
                  <a:srgbClr val="01374A"/>
                </a:solidFill>
                <a:latin typeface="Calibri" pitchFamily="34" charset="0"/>
                <a:ea typeface="Calibri" pitchFamily="34" charset="-122"/>
                <a:cs typeface="Calibri" pitchFamily="34" charset="-120"/>
              </a:rPr>
              <a:t>ONA — Organizational Network Analysis</a:t>
            </a:r>
            <a:endParaRPr lang="en-US" sz="1300" dirty="0"/>
          </a:p>
        </p:txBody>
      </p:sp>
      <p:sp>
        <p:nvSpPr>
          <p:cNvPr id="18" name="Text 16"/>
          <p:cNvSpPr/>
          <p:nvPr/>
        </p:nvSpPr>
        <p:spPr>
          <a:xfrm>
            <a:off x="1234440" y="4050792"/>
            <a:ext cx="7406640" cy="713232"/>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Mapping internal communication and collaboration patterns identifies structurally isolated employees — those at the periphery of organizational networks (Cross &amp; Parker, 2004) — who are significantly more likely to leave due to weak social anchoring, even when engagement scores appear normal.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1374A"/>
        </a:solidFill>
      </p:bgPr>
    </p:bg>
    <p:spTree>
      <p:nvGrpSpPr>
        <p:cNvPr id="1" name=""/>
        <p:cNvGrpSpPr/>
        <p:nvPr/>
      </p:nvGrpSpPr>
      <p:grpSpPr>
        <a:xfrm>
          <a:off x="0" y="0"/>
          <a:ext cx="0" cy="0"/>
          <a:chOff x="0" y="0"/>
          <a:chExt cx="0" cy="0"/>
        </a:xfrm>
      </p:grpSpPr>
      <p:sp>
        <p:nvSpPr>
          <p:cNvPr id="2" name="Text 0"/>
          <p:cNvSpPr/>
          <p:nvPr/>
        </p:nvSpPr>
        <p:spPr>
          <a:xfrm>
            <a:off x="548640" y="685800"/>
            <a:ext cx="8046720" cy="210312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From Reactive Reporting</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to Predictive Diagnostics.</a:t>
            </a:r>
            <a:endParaRPr lang="en-US" sz="3400" dirty="0"/>
          </a:p>
        </p:txBody>
      </p:sp>
      <p:sp>
        <p:nvSpPr>
          <p:cNvPr id="3" name="Shape 1"/>
          <p:cNvSpPr/>
          <p:nvPr/>
        </p:nvSpPr>
        <p:spPr>
          <a:xfrm>
            <a:off x="548640" y="2743200"/>
            <a:ext cx="1828800" cy="54864"/>
          </a:xfrm>
          <a:prstGeom prst="rect">
            <a:avLst/>
          </a:prstGeom>
          <a:solidFill>
            <a:srgbClr val="02C39A"/>
          </a:solidFill>
          <a:ln w="12700">
            <a:solidFill>
              <a:srgbClr val="02C39A"/>
            </a:solidFill>
            <a:prstDash val="solid"/>
          </a:ln>
        </p:spPr>
      </p:sp>
      <p:sp>
        <p:nvSpPr>
          <p:cNvPr id="4" name="Text 2"/>
          <p:cNvSpPr/>
          <p:nvPr/>
        </p:nvSpPr>
        <p:spPr>
          <a:xfrm>
            <a:off x="548640" y="2926080"/>
            <a:ext cx="8046720" cy="822960"/>
          </a:xfrm>
          <a:prstGeom prst="rect">
            <a:avLst/>
          </a:prstGeom>
          <a:noFill/>
          <a:ln/>
        </p:spPr>
        <p:txBody>
          <a:bodyPr wrap="square" rtlCol="0" anchor="ctr"/>
          <a:lstStyle/>
          <a:p>
            <a:pPr indent="0" marL="0">
              <a:buNone/>
            </a:pPr>
            <a:r>
              <a:rPr lang="en-US" sz="1400" dirty="0">
                <a:solidFill>
                  <a:srgbClr val="7EDED6"/>
                </a:solidFill>
                <a:latin typeface="Calibri" pitchFamily="34" charset="0"/>
                <a:ea typeface="Calibri" pitchFamily="34" charset="-122"/>
                <a:cs typeface="Calibri" pitchFamily="34" charset="-120"/>
              </a:rPr>
              <a:t>Every finding in this analysis is grounded in verified data and established behavioral science. The goal is not to describe what happened — but to prevent what comes next.</a:t>
            </a:r>
            <a:endParaRPr lang="en-US" sz="1400" dirty="0"/>
          </a:p>
        </p:txBody>
      </p:sp>
      <p:sp>
        <p:nvSpPr>
          <p:cNvPr id="5" name="Text 3"/>
          <p:cNvSpPr/>
          <p:nvPr/>
        </p:nvSpPr>
        <p:spPr>
          <a:xfrm>
            <a:off x="548640" y="3931920"/>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Lorenzo Di Salvatore</a:t>
            </a:r>
            <a:endParaRPr lang="en-US" sz="1400" dirty="0"/>
          </a:p>
        </p:txBody>
      </p:sp>
      <p:sp>
        <p:nvSpPr>
          <p:cNvPr id="6" name="Text 4"/>
          <p:cNvSpPr/>
          <p:nvPr/>
        </p:nvSpPr>
        <p:spPr>
          <a:xfrm>
            <a:off x="548640" y="4315968"/>
            <a:ext cx="8046720" cy="274320"/>
          </a:xfrm>
          <a:prstGeom prst="rect">
            <a:avLst/>
          </a:prstGeom>
          <a:noFill/>
          <a:ln/>
        </p:spPr>
        <p:txBody>
          <a:bodyPr wrap="square" rtlCol="0" anchor="ctr"/>
          <a:lstStyle/>
          <a:p>
            <a:pPr indent="0" marL="0">
              <a:buNone/>
            </a:pPr>
            <a:r>
              <a:rPr lang="en-US" sz="1000" dirty="0">
                <a:solidFill>
                  <a:srgbClr val="4A9BAA"/>
                </a:solidFill>
                <a:latin typeface="Calibri" pitchFamily="34" charset="0"/>
                <a:ea typeface="Calibri" pitchFamily="34" charset="-122"/>
                <a:cs typeface="Calibri" pitchFamily="34" charset="-120"/>
              </a:rPr>
              <a:t>LinkedIn: linkedin.com/in/lorenzo-di-salvatore-psico  ·  GitHub: github.com/LoreBear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Behavioral Analytics: Decoding Turnover &amp; Burnout</dc:title>
  <dc:subject>PptxGenJS Presentation</dc:subject>
  <dc:creator>Lorenzo Di Salvatore</dc:creator>
  <cp:lastModifiedBy>Lorenzo Di Salvatore</cp:lastModifiedBy>
  <cp:revision>1</cp:revision>
  <dcterms:created xsi:type="dcterms:W3CDTF">2026-04-22T07:23:45Z</dcterms:created>
  <dcterms:modified xsi:type="dcterms:W3CDTF">2026-04-22T07:23:45Z</dcterms:modified>
</cp:coreProperties>
</file>