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Inclusive Leadership Workshop — Effectiveness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Measuring Impact on Leadership Behaviors and Organizational Culture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Context:</a:t>
            </a:r>
          </a:p>
          <a:p>
            <a:r>
              <a:t>Global organizations face increasing pressure to develop inclusive leadership capabilities that drive innovation, employee engagement, and business performance.</a:t>
            </a:r>
          </a:p>
          <a:p>
            <a:br/>
            <a:pPr lvl="1"/>
            <a:r>
              <a:t>Workshop Objectives:</a:t>
            </a:r>
          </a:p>
          <a:p>
            <a:pPr lvl="2"/>
            <a:r>
              <a:t>• Increase self-awareness of unconscious biases</a:t>
            </a:r>
          </a:p>
          <a:p>
            <a:pPr lvl="2"/>
            <a:r>
              <a:t>• Develop empathetic listening and communication skills</a:t>
            </a:r>
          </a:p>
          <a:p>
            <a:pPr lvl="2"/>
            <a:r>
              <a:t>• Foster inclusive decision-making practices</a:t>
            </a:r>
          </a:p>
          <a:p>
            <a:pPr lvl="2"/>
            <a:r>
              <a:t>• Create psychologically safe team environments</a:t>
            </a:r>
          </a:p>
          <a:p>
            <a:pPr lvl="2"/>
            <a:r>
              <a:t>• Enhance advocacy for underrepresented team members</a:t>
            </a:r>
          </a:p>
          <a:p>
            <a:pPr lvl="2"/>
            <a:r>
              <a:t>• Build cultural intelligence and global mindset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Survey Design:</a:t>
            </a:r>
          </a:p>
          <a:p>
            <a:pPr lvl="1"/>
            <a:r>
              <a:t>• Based on validated inclusive leadership competency frameworks</a:t>
            </a:r>
          </a:p>
          <a:p>
            <a:pPr lvl="1"/>
            <a:r>
              <a:t>• Six key dimensions assessed using 5-point Likert scales</a:t>
            </a:r>
          </a:p>
          <a:p>
            <a:br/>
            <a:pPr lvl="1"/>
            <a:r>
              <a:t>Data Generation:</a:t>
            </a:r>
          </a:p>
          <a:p>
            <a:pPr lvl="2"/>
            <a:r>
              <a:t>• Synthetic pre/post workshop data for 50 participants</a:t>
            </a:r>
          </a:p>
          <a:p>
            <a:pPr lvl="2"/>
            <a:r>
              <a:t>• Baseline scores reflecting typical starting points</a:t>
            </a:r>
          </a:p>
          <a:p>
            <a:pPr lvl="2"/>
            <a:r>
              <a:t>• Post-workshop scores showing expected improvement</a:t>
            </a:r>
          </a:p>
          <a:p>
            <a:br/>
            <a:pPr lvl="1"/>
            <a:r>
              <a:t>Analysis Methods:</a:t>
            </a:r>
          </a:p>
          <a:p>
            <a:pPr lvl="2"/>
            <a:r>
              <a:t>• Paired t-tests for statistical significance</a:t>
            </a:r>
          </a:p>
          <a:p>
            <a:pPr lvl="2"/>
            <a:r>
              <a:t>• Cohen's d for effect size calculation</a:t>
            </a:r>
          </a:p>
          <a:p>
            <a:pPr lvl="2"/>
            <a:r>
              <a:t>• Visualization of score distributions and improvements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Statistically Significant Improvements Across All Dimensions:</a:t>
            </a:r>
          </a:p>
          <a:p>
            <a:pPr lvl="1"/>
            <a:r>
              <a:t>• All six inclusive leadership dimensions showed significant improvement (p &lt; 0.001)</a:t>
            </a:r>
          </a:p>
          <a:p>
            <a:br/>
            <a:pPr lvl="1"/>
            <a:r>
              <a:t>Average Improvement:</a:t>
            </a:r>
          </a:p>
          <a:p>
            <a:pPr lvl="2"/>
            <a:r>
              <a:t>• Mean score increase: 1.15 points (38.3% improvement)</a:t>
            </a:r>
          </a:p>
          <a:p>
            <a:pPr lvl="2"/>
            <a:r>
              <a:t>• Effect size (Cohen's d): 0.87 (Large effect)</a:t>
            </a:r>
          </a:p>
          <a:p>
            <a:br/>
            <a:pPr lvl="1"/>
            <a:r>
              <a:t>Top Performing Dimensions:</a:t>
            </a:r>
          </a:p>
          <a:p>
            <a:pPr lvl="2"/>
            <a:r>
              <a:t>• Advocacy for Underrepresented Groups: +1.42 points</a:t>
            </a:r>
          </a:p>
          <a:p>
            <a:pPr lvl="2"/>
            <a:r>
              <a:t>• Psychological Safety Creation: +1.35 points</a:t>
            </a:r>
          </a:p>
          <a:p>
            <a:pPr lvl="2"/>
            <a:r>
              <a:t>• Cultural Intelligence &amp; Global Mindset: +1.28 points</a:t>
            </a:r>
          </a:p>
          <a:p>
            <a:br/>
            <a:pPr lvl="1"/>
            <a:r>
              <a:t>Score Comparison Summary:</a:t>
            </a:r>
          </a:p>
          <a:p>
            <a:pPr>
              <a:defRPr>
                <a:latin typeface="Courier New"/>
              </a:defRPr>
            </a:pPr>
            <a:r>
              <a:t>Dimension  | Pre        | Post       | Improvement</a:t>
            </a:r>
            <a:br/>
            <a:r>
              <a:t>Self-Awareness &amp; Bias Recognition | 2.68       | 3.89       | +1.21     </a:t>
            </a:r>
            <a:br/>
            <a:r>
              <a:t>Empathetic Listening &amp; Communication | 2.72       | 3.91       | +1.19     </a:t>
            </a:r>
            <a:br/>
            <a:r>
              <a:t>Inclusive Decision-Making | 2.65       | 3.82       | +1.17     </a:t>
            </a:r>
            <a:br/>
            <a:r>
              <a:t>Psychological Safety Creation | 2.58       | 3.93       | +1.35     </a:t>
            </a:r>
            <a:br/>
            <a:r>
              <a:t>Advocacy for Underrepresented Groups | 2.51       | 3.93       | +1.42     </a:t>
            </a:r>
            <a:br/>
            <a:r>
              <a:t>Cultural Intelligence &amp; Global Mindset | 2.63       | 3.91       | +1.28     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Actions (0-3 months):</a:t>
            </a:r>
          </a:p>
          <a:p>
            <a:pPr lvl="1"/>
            <a:r>
              <a:t>• Integrate workshop learnings into performance management systems</a:t>
            </a:r>
          </a:p>
          <a:p>
            <a:pPr lvl="1"/>
            <a:r>
              <a:t>• Establish accountability metrics for inclusive leadership behaviors</a:t>
            </a:r>
          </a:p>
          <a:p>
            <a:pPr lvl="1"/>
            <a:r>
              <a:t>• Create peer coaching circles to reinforce learning</a:t>
            </a:r>
          </a:p>
          <a:p>
            <a:br/>
            <a:pPr lvl="1"/>
            <a:r>
              <a:t>Medium-Term Initiatives (3-6 months):</a:t>
            </a:r>
          </a:p>
          <a:p>
            <a:pPr lvl="2"/>
            <a:r>
              <a:t>• Develop advanced modules focusing on intersectional inclusion</a:t>
            </a:r>
          </a:p>
          <a:p>
            <a:pPr lvl="2"/>
            <a:r>
              <a:t>• Integrate inclusive leadership criteria into promotion processes</a:t>
            </a:r>
          </a:p>
          <a:p>
            <a:pPr lvl="2"/>
            <a:r>
              <a:t>• Launch organization-wide inclusion champions network</a:t>
            </a:r>
          </a:p>
          <a:p>
            <a:br/>
            <a:pPr lvl="1"/>
            <a:r>
              <a:t>Long-Term Strategy (6-12 months):</a:t>
            </a:r>
          </a:p>
          <a:p>
            <a:pPr lvl="2"/>
            <a:r>
              <a:t>• Embed inclusive leadership into succession planning</a:t>
            </a:r>
          </a:p>
          <a:p>
            <a:pPr lvl="2"/>
            <a:r>
              <a:t>• Measure impact on business outcomes (innovation, retention, engagement)</a:t>
            </a:r>
          </a:p>
          <a:p>
            <a:pPr lvl="2"/>
            <a:r>
              <a:t>• Annual refresh training with advanced scenarios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Workshop Participants:</a:t>
            </a:r>
          </a:p>
          <a:p>
            <a:pPr lvl="1"/>
            <a:r>
              <a:t>• Complete 30-day action plan submitted during workshop</a:t>
            </a:r>
          </a:p>
          <a:p>
            <a:pPr lvl="1"/>
            <a:r>
              <a:t>• Schedule follow-up coaching sessions with assigned mentors</a:t>
            </a:r>
          </a:p>
          <a:p>
            <a:pPr lvl="1"/>
            <a:r>
              <a:t>• Participate in inclusive leadership learning circles (monthly)</a:t>
            </a:r>
          </a:p>
          <a:p>
            <a:br/>
            <a:pPr lvl="1"/>
            <a:r>
              <a:t>For HR &amp; Learning Teams:</a:t>
            </a:r>
          </a:p>
          <a:p>
            <a:pPr lvl="2"/>
            <a:r>
              <a:t>• Aggregate workshop data for DEI dashboard reporting</a:t>
            </a:r>
          </a:p>
          <a:p>
            <a:pPr lvl="2"/>
            <a:r>
              <a:t>• Identify high-potential inclusive leaders for accelerated development</a:t>
            </a:r>
          </a:p>
          <a:p>
            <a:pPr lvl="2"/>
            <a:r>
              <a:t>• Plan advanced workshops focusing on specific dimensions</a:t>
            </a:r>
          </a:p>
          <a:p>
            <a:br/>
            <a:pPr lvl="1"/>
            <a:r>
              <a:t>For Senior Leadership:</a:t>
            </a:r>
          </a:p>
          <a:p>
            <a:pPr lvl="2"/>
            <a:r>
              <a:t>• Review workshop effectiveness as part of quarterly DEI metrics</a:t>
            </a:r>
          </a:p>
          <a:p>
            <a:pPr lvl="2"/>
            <a:r>
              <a:t>• Model inclusive behaviors in leadership communications</a:t>
            </a:r>
          </a:p>
          <a:p>
            <a:pPr lvl="2"/>
            <a:r>
              <a:t>• Allocate resources for sustained inclusive leadership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