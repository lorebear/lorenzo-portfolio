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Attrition Rate (%)</c:v>
                </c:pt>
              </c:strCache>
            </c:strRef>
          </c:tx>
          <c:spPr>
            <a:solidFill>
              <a:srgbClr val="0D9488"/>
            </a:solidFill>
            <a:effectLst/>
          </c:spPr>
          <c:invertIfNegative val="0"/>
          <c:dLbls>
            <c:numFmt formatCode="#,##0" sourceLinked="0"/>
            <c:txPr>
              <a:bodyPr/>
              <a:lstStyle/>
              <a:p>
                <a:pPr>
                  <a:defRPr b="0" i="0" strike="noStrike" sz="13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0D9488"/>
              </a:solidFill>
              <a:effectLst/>
            </c:spPr>
          </c:dPt>
          <c:dPt>
            <c:idx val="1"/>
            <c:invertIfNegative val="0"/>
            <c:bubble3D val="0"/>
            <c:spPr>
              <a:solidFill>
                <a:srgbClr val="E55B4D"/>
              </a:solidFill>
              <a:effectLst/>
            </c:spPr>
          </c:dPt>
          <c:cat>
            <c:multiLvlStrRef>
              <c:f>Sheet1!$A$2:$A$3</c:f>
              <c:multiLvlStrCache>
                <c:ptCount val="2"/>
                <c:lvl>
                  <c:pt idx="0">
                    <c:v>No Overtime</c:v>
                  </c:pt>
                  <c:pt idx="1">
                    <c:v>Overtime</c:v>
                  </c:pt>
                </c:lvl>
              </c:multiLvlStrCache>
            </c:multiLvlStrRef>
          </c:cat>
          <c:val>
            <c:numRef>
              <c:f>Sheet1!$B$2:$B$3</c:f>
              <c:numCache>
                <c:formatCode>General</c:formatCode>
                <c:ptCount val="2"/>
                <c:pt idx="0">
                  <c:v>10.4</c:v>
                </c:pt>
                <c:pt idx="1">
                  <c:v>30.5</c:v>
                </c:pt>
              </c:numCache>
            </c:numRef>
          </c:val>
        </c:ser>
        <c:dLbls>
          <c:numFmt formatCode="#,##0" sourceLinked="0"/>
          <c:txPr>
            <a:bodyPr/>
            <a:lstStyle/>
            <a:p>
              <a:pPr>
                <a:defRPr b="0" i="0" strike="noStrike" sz="13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4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0F4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Median Monthly Income</c:v>
                </c:pt>
              </c:strCache>
            </c:strRef>
          </c:tx>
          <c:spPr>
            <a:solidFill>
              <a:srgbClr val="E55B4D"/>
            </a:solidFill>
            <a:effectLst/>
          </c:spPr>
          <c:invertIfNegative val="0"/>
          <c:dLbls>
            <c:numFmt formatCode="#,##0" sourceLinked="0"/>
            <c:txPr>
              <a:bodyPr/>
              <a:lstStyle/>
              <a:p>
                <a:pPr>
                  <a:defRPr b="0" i="0" strike="noStrike" sz="13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E55B4D"/>
              </a:solidFill>
              <a:effectLst/>
            </c:spPr>
          </c:dPt>
          <c:dPt>
            <c:idx val="1"/>
            <c:invertIfNegative val="0"/>
            <c:bubble3D val="0"/>
            <c:spPr>
              <a:solidFill>
                <a:srgbClr val="0D9488"/>
              </a:solidFill>
              <a:effectLst/>
            </c:spPr>
          </c:dPt>
          <c:cat>
            <c:multiLvlStrRef>
              <c:f>Sheet1!$A$2:$A$3</c:f>
              <c:multiLvlStrCache>
                <c:ptCount val="2"/>
                <c:lvl>
                  <c:pt idx="0">
                    <c:v>Left</c:v>
                  </c:pt>
                  <c:pt idx="1">
                    <c:v>Stayed</c:v>
                  </c:pt>
                </c:lvl>
              </c:multiLvlStrCache>
            </c:multiLvlStrRef>
          </c:cat>
          <c:val>
            <c:numRef>
              <c:f>Sheet1!$B$2:$B$3</c:f>
              <c:numCache>
                <c:formatCode>General</c:formatCode>
                <c:ptCount val="2"/>
                <c:pt idx="0">
                  <c:v>3202</c:v>
                </c:pt>
                <c:pt idx="1">
                  <c:v>5204</c:v>
                </c:pt>
              </c:numCache>
            </c:numRef>
          </c:val>
        </c:ser>
        <c:dLbls>
          <c:numFmt formatCode="#,##0" sourceLinked="0"/>
          <c:txPr>
            <a:bodyPr/>
            <a:lstStyle/>
            <a:p>
              <a:pPr>
                <a:defRPr b="0" i="0" strike="noStrike" sz="13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600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0F4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Attrition Rate (%)</c:v>
                </c:pt>
              </c:strCache>
            </c:strRef>
          </c:tx>
          <c:spPr>
            <a:solidFill>
              <a:srgbClr val="E55B4D"/>
            </a:solidFill>
            <a:effectLst/>
          </c:spPr>
          <c:invertIfNegative val="0"/>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E55B4D"/>
              </a:solidFill>
              <a:effectLst/>
            </c:spPr>
          </c:dPt>
          <c:dPt>
            <c:idx val="1"/>
            <c:invertIfNegative val="0"/>
            <c:bubble3D val="0"/>
            <c:spPr>
              <a:solidFill>
                <a:srgbClr val="E55B4D"/>
              </a:solidFill>
              <a:effectLst/>
            </c:spPr>
          </c:dPt>
          <c:dPt>
            <c:idx val="2"/>
            <c:invertIfNegative val="0"/>
            <c:bubble3D val="0"/>
            <c:spPr>
              <a:solidFill>
                <a:srgbClr val="E07B6A"/>
              </a:solidFill>
              <a:effectLst/>
            </c:spPr>
          </c:dPt>
          <c:dPt>
            <c:idx val="3"/>
            <c:invertIfNegative val="0"/>
            <c:bubble3D val="0"/>
            <c:spPr>
              <a:solidFill>
                <a:srgbClr val="C4A882"/>
              </a:solidFill>
              <a:effectLst/>
            </c:spPr>
          </c:dPt>
          <c:dPt>
            <c:idx val="4"/>
            <c:invertIfNegative val="0"/>
            <c:bubble3D val="0"/>
            <c:spPr>
              <a:solidFill>
                <a:srgbClr val="C4A882"/>
              </a:solidFill>
              <a:effectLst/>
            </c:spPr>
          </c:dPt>
          <c:dPt>
            <c:idx val="5"/>
            <c:invertIfNegative val="0"/>
            <c:bubble3D val="0"/>
            <c:spPr>
              <a:solidFill>
                <a:srgbClr val="0D9488"/>
              </a:solidFill>
              <a:effectLst/>
            </c:spPr>
          </c:dPt>
          <c:dPt>
            <c:idx val="6"/>
            <c:invertIfNegative val="0"/>
            <c:bubble3D val="0"/>
            <c:spPr>
              <a:solidFill>
                <a:srgbClr val="0D9488"/>
              </a:solidFill>
              <a:effectLst/>
            </c:spPr>
          </c:dPt>
          <c:dPt>
            <c:idx val="7"/>
            <c:invertIfNegative val="0"/>
            <c:bubble3D val="0"/>
            <c:spPr>
              <a:solidFill>
                <a:srgbClr val="0D9488"/>
              </a:solidFill>
              <a:effectLst/>
            </c:spPr>
          </c:dPt>
          <c:dPt>
            <c:idx val="8"/>
            <c:invertIfNegative val="0"/>
            <c:bubble3D val="0"/>
            <c:spPr>
              <a:solidFill>
                <a:srgbClr val="0D9488"/>
              </a:solidFill>
              <a:effectLst/>
            </c:spPr>
          </c:dPt>
          <c:cat>
            <c:multiLvlStrRef>
              <c:f>Sheet1!$A$2:$A$10</c:f>
              <c:multiLvlStrCache>
                <c:ptCount val="9"/>
                <c:lvl>
                  <c:pt idx="0">
                    <c:v>Sales Rep</c:v>
                  </c:pt>
                  <c:pt idx="1">
                    <c:v>Lab Tech</c:v>
                  </c:pt>
                  <c:pt idx="2">
                    <c:v>HR</c:v>
                  </c:pt>
                  <c:pt idx="3">
                    <c:v>Sales Exec</c:v>
                  </c:pt>
                  <c:pt idx="4">
                    <c:v>Research Sci</c:v>
                  </c:pt>
                  <c:pt idx="5">
                    <c:v>Healthcare Rep</c:v>
                  </c:pt>
                  <c:pt idx="6">
                    <c:v>Manuf. Dir</c:v>
                  </c:pt>
                  <c:pt idx="7">
                    <c:v>Manager</c:v>
                  </c:pt>
                  <c:pt idx="8">
                    <c:v>Research Dir</c:v>
                  </c:pt>
                </c:lvl>
              </c:multiLvlStrCache>
            </c:multiLvlStrRef>
          </c:cat>
          <c:val>
            <c:numRef>
              <c:f>Sheet1!$B$2:$B$10</c:f>
              <c:numCache>
                <c:formatCode>General</c:formatCode>
                <c:ptCount val="9"/>
                <c:pt idx="0">
                  <c:v>39.8</c:v>
                </c:pt>
                <c:pt idx="1">
                  <c:v>23.9</c:v>
                </c:pt>
                <c:pt idx="2">
                  <c:v>23.1</c:v>
                </c:pt>
                <c:pt idx="3">
                  <c:v>17.5</c:v>
                </c:pt>
                <c:pt idx="4">
                  <c:v>16.1</c:v>
                </c:pt>
                <c:pt idx="5">
                  <c:v>6.9</c:v>
                </c:pt>
                <c:pt idx="6">
                  <c:v>6.9</c:v>
                </c:pt>
                <c:pt idx="7">
                  <c:v>4.9</c:v>
                </c:pt>
                <c:pt idx="8">
                  <c:v>2.5</c:v>
                </c:pt>
              </c:numCache>
            </c:numRef>
          </c:val>
        </c:ser>
        <c:dLbls>
          <c:numFmt formatCode="#,##0" sourceLinked="0"/>
          <c:txPr>
            <a:bodyPr/>
            <a:lstStyle/>
            <a:p>
              <a:pPr>
                <a:defRPr b="0" i="0" strike="noStrike" sz="11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0F4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Attrition Rate (%)</c:v>
                </c:pt>
              </c:strCache>
            </c:strRef>
          </c:tx>
          <c:spPr>
            <a:solidFill>
              <a:srgbClr val="1E2761"/>
            </a:solidFill>
            <a:ln w="31750" cap="flat">
              <a:solidFill>
                <a:srgbClr val="1E276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E2761"/>
              </a:solidFill>
              <a:ln w="9525" cap="flat">
                <a:solidFill>
                  <a:srgbClr val="1E2761"/>
                </a:solidFill>
                <a:prstDash val="solid"/>
                <a:round/>
              </a:ln>
              <a:effectLst/>
            </c:spPr>
          </c:marker>
          <c:cat>
            <c:multiLvlStrRef>
              <c:f>Sheet1!$A$2:$A$10</c:f>
              <c:multiLvlStrCache>
                <c:ptCount val="9"/>
                <c:lvl>
                  <c:pt idx="0">
                    <c:v>Yr 0</c:v>
                  </c:pt>
                  <c:pt idx="1">
                    <c:v>Yr 1</c:v>
                  </c:pt>
                  <c:pt idx="2">
                    <c:v>Yr 2</c:v>
                  </c:pt>
                  <c:pt idx="3">
                    <c:v>Yr 3</c:v>
                  </c:pt>
                  <c:pt idx="4">
                    <c:v>Yr 4</c:v>
                  </c:pt>
                  <c:pt idx="5">
                    <c:v>Yr 5</c:v>
                  </c:pt>
                  <c:pt idx="6">
                    <c:v>Yr 6</c:v>
                  </c:pt>
                  <c:pt idx="7">
                    <c:v>Yr 7</c:v>
                  </c:pt>
                  <c:pt idx="8">
                    <c:v>Yr 8+</c:v>
                  </c:pt>
                </c:lvl>
              </c:multiLvlStrCache>
            </c:multiLvlStrRef>
          </c:cat>
          <c:val>
            <c:numRef>
              <c:f>Sheet1!$B$2:$B$10</c:f>
              <c:numCache>
                <c:formatCode>General</c:formatCode>
                <c:ptCount val="9"/>
                <c:pt idx="0">
                  <c:v>32.3</c:v>
                </c:pt>
                <c:pt idx="1">
                  <c:v>14.5</c:v>
                </c:pt>
                <c:pt idx="2">
                  <c:v>14.5</c:v>
                </c:pt>
                <c:pt idx="3">
                  <c:v>13.4</c:v>
                </c:pt>
                <c:pt idx="4">
                  <c:v>11.2</c:v>
                </c:pt>
                <c:pt idx="5">
                  <c:v>10</c:v>
                </c:pt>
                <c:pt idx="6">
                  <c:v>8.5</c:v>
                </c:pt>
                <c:pt idx="7">
                  <c:v>7</c:v>
                </c:pt>
                <c:pt idx="8">
                  <c:v>5.5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4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0F4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INTRODUZIONE
Buongiorno a tutti. Oggi vi presento un'analisi del dataset IBM HR Employee Attrition, 1.470 dipendenti, 35 variabili.
L'obiettivo non era fare statistica descrittiva — quello lo fa qualsiasi report HR.
L'obiettivo era fare una "biopsia culturale": identificare i meccanismi psicologici che spingono le persone a uscire dalla porta.
Combino Python per l'analisi statistica e Power BI per la visualizzazione interattiva.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APPROCCIO
Perché questo progetto è diverso da un report HR standard?
Perché non ci fermiamo al conteggio delle uscite. Usiamo la psicologia organizzativa per decodificare i pattern.
Ho usato tre framework principali: Herzberg per il salary threshold, Maslach per il burnout, Mitchell et al. per il job embeddedness.
Il tasso di attrition complessivo è 16.1% — uno su sei dipendenti ha lasciato l'azienda.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EXECUTIVE SUMMARY
Questi sono i quattro numeri che contano davvero.
30.5%: chi fa straordinari lascia tre volte più spesso di chi non li fa. Non è casualità — è un moltiplicatore di stress.
39.8%: il ruolo Sales Representative ha quasi il 40% di turnover. Non il dipartimento Sales in media — il ruolo specifico.
$3,202 vs $5,204: quasi $2,000 di differenza mediana mensile tra chi va e chi resta. Il dato più diretto del dataset.
32.3%: il primo anno con un nuovo manager è il momento di massimo rischio. La relazione non è ancora ancorata.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FINDING 1: OVERTIME
Il gap è netto: 10.4% vs 30.5%. Quasi tre volte più probabile che un dipendente in straordinario lasci.
Questo non è solo un problema di ore lavorate. Secondo Maslach e Leiter, gli straordinari prolungati attivano un percorso di burnout in tre stadi: esaurimento emotivo, depersonalizzazione, senso di inefficacia.
Il dipendente non si dimette di colpo — si disconnette progressivamente. La lettera di dimissioni è l'ultimo atto di un processo iniziato mesi prima.
Intervento: monitorare i team che superano il 15% di straordinari per due mesi consecutivi. Quello è il segnale d'allarme.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FINDING 2: INCOME
La differenza mediana è quasi $2,000 al mese. Non è una sfumatura — è una frattura.
Uso la teoria di Herzberg per interpretarla: sotto una certa soglia salariale, lo stipendio smette di essere un motivatore e diventa un dissatisfier. Significa che la sua assenza crea insoddisfazione attiva, ma la sua presenza non crea soddisfazione.
Il risultato pratico: se paghi male, nessun teambuilding, nessun bonus simbolico, nessun programma di wellbeing funzionerà.
La soglia critica dai dati è intorno a $3,000-$3,500 mensili. Sotto quella soglia, l'azienda è in zona di pericolo strutturale.
Correlazione: −0.160, tra le più forti del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FINDING 3: JOB ROLE
Il dato più drammatico: Sales Representative al 39.8%. Uno su due quasi lascia entro un ciclo di analisi.
Importante chiarimento: il dipartimento Sales in media è al 20.6%. Il 39.8% è il ruolo specifico "Sales Representative". Sales Executives nello stesso dipartimento sono al 17.5%. La fragilità è concentrata nel ruolo, non nel dipartimento.
Perché succede? Self-Determination Theory: autonomia, competenza e relazionalità sono i tre bisogni fondamentali. I Sales Rep hanno alta responsabilità ma basso controllo sui risultati. Questo genera la Learned Helplessness di Seligman: ti senti responsabile di outcome che non puoi controllare. La soluzione non è solo un bonus — è riprogettare il ruolo.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FINDING 4: MANAGER TENURE EFFECT
Il primo anno con un nuovo manager è il momento più pericoloso: 32.3% di probabilità di uscita.
Dal secondo anno in poi il rischio scende drasticamente — 14.5%, poi continua a calare.
La correlazione YearsWithCurrManager è −0.156: praticamente identica a MonthlyIncome. Il manager vale quanto lo stipendio come fattore di retention.
Mitchell et al. (2001) lo chiamano job embeddedness: la rete di legami che aumenta il costo percepito del lasciare. Il manager è uno di quei legami chiave.
Implicazione pratica: quando un manager cambia, bisogna attivare un protocollo di "Relationship Handover" — check-in strutturati nei primi 90 giorni — per ridurre lo spike di attrition.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CORRELATION HEATMAP
Questa tabella sintetizza le correlazioni più significative con l'attrition dall'heatmap.
Punto critico: TotalWorkingYears, YearsInCurrentRole e YearsWithCurrManager formano un cluster. Non sono variabili indipendenti — descrivono tutte lo stesso costrutto: l'embeddedness organizzativo.
Un dipendente che è simultaneamente nuovo al ruolo, nuovo al manager e con poca anzianità aziendale porta tre deficit di embeddedness in parallelo. Quando tutti e tre si allineano, la probabilità di uscita è massima.
Il messaggio strategico: i dipendenti più a rischio non sono solo insoddisfatti — sono non ancorati.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FRAMEWORK E.R.A.
Questi tre interventi derivano direttamente dai dati. Non sono suggerimenti generici — sono soluzioni mirate alle three fault lines identificate.
E — Equity: il salary floor. Sotto $3,000 non funziona nient'altro. Primo da risolvere.
R — Reward: le stock option. 24.4% vs 10% — una differenza enorme per un intervento che non ha costo ricorrente. L'ownership psicologica cambia il calcolo costi-benefici del lasciare.
A — Autonomy: il protocollo Overtime Red Flag. 15% di straordinari per due mesi = audit automatico. Sistematizza il segnale d'allarme invece di aspettare che i manager lo escalino.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BUSINESS IMPACT
Il valore di questa analisi non è accademico — è finanziario.
Costo di sostituzione: 1.5–2 volte lo stipendio annuale. Per un team di 50 Sales Rep al 39.8%, passare al 20% significa 10 uscite in meno all'anno. A $50K di stipendio medio, il risparmio è $750K-$1M.
Manager Handover: il protocollo di transizione manageriale strutturata (check-in a 30, 60, 90 giorni) costa quasi zero e aggredisce direttamente il 32.3% di attrition nel primo anno.
Il punto più importante: questa analisi repositiona HR da funzione di supporto a partner strategico. Non contiamo più le uscite — prevediamo il rischio e lo quantifichiamo in euro.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FUTURE SCOPE
Questa analisi diagnostica dove e perché avviene l'attrition. La prossima fase deve predire quando avverrà.
Predictive modeling: assegnare un "flight risk score" individuale. Invece di aspettare che una persona si dimetta, sapere 3-6 mesi prima che è ad alto rischio e agire.
NLP: i dati strutturati ci dicono cosa le persone dichiarano. Il testo libero delle exit interview ci dice cosa pensano davvero. Topic modeling sul dipartimento Sales potrebbe rilevare pattern che le survey chiuse non catturano.
Tipping point analysis: identificare la soglia esatta di carico di lavoro oltre la quale inizia il withdrawal psicologico. Non reagire alla dimissione — intervenire prima che la decisione sia presa.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CLOSING
Il titolo di questa slide riassume il cambio di paradigma.
Non più: "Quante persone sono uscite questo trimestre?"
Ma: "Chi uscirà nei prossimi 90 giorni e cosa possiamo fare adesso?"
Questo è il valore dell'HR data analytics con una lente psicologica: trasforma numeri in previsioni, e previsioni in azioni.
Grazie — sono disponibile per domande.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3474720"/>
            <a:ext cx="9144000" cy="1668780"/>
          </a:xfrm>
          <a:prstGeom prst="rect">
            <a:avLst/>
          </a:prstGeom>
          <a:solidFill>
            <a:srgbClr val="162054"/>
          </a:solidFill>
          <a:ln w="12700">
            <a:solidFill>
              <a:srgbClr val="162054"/>
            </a:solidFill>
            <a:prstDash val="solid"/>
          </a:ln>
        </p:spPr>
      </p:sp>
      <p:sp>
        <p:nvSpPr>
          <p:cNvPr id="3" name="Text 1"/>
          <p:cNvSpPr/>
          <p:nvPr/>
        </p:nvSpPr>
        <p:spPr>
          <a:xfrm>
            <a:off x="548640" y="640080"/>
            <a:ext cx="8046720" cy="82296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IBM HR Analytics</a:t>
            </a:r>
            <a:endParaRPr lang="en-US" sz="4000" dirty="0"/>
          </a:p>
        </p:txBody>
      </p:sp>
      <p:sp>
        <p:nvSpPr>
          <p:cNvPr id="4" name="Text 2"/>
          <p:cNvSpPr/>
          <p:nvPr/>
        </p:nvSpPr>
        <p:spPr>
          <a:xfrm>
            <a:off x="548640" y="1417320"/>
            <a:ext cx="8046720" cy="548640"/>
          </a:xfrm>
          <a:prstGeom prst="rect">
            <a:avLst/>
          </a:prstGeom>
          <a:noFill/>
          <a:ln/>
        </p:spPr>
        <p:txBody>
          <a:bodyPr wrap="square" rtlCol="0" anchor="ctr"/>
          <a:lstStyle/>
          <a:p>
            <a:pPr indent="0" marL="0">
              <a:buNone/>
            </a:pPr>
            <a:r>
              <a:rPr lang="en-US" sz="2200" i="1" dirty="0">
                <a:solidFill>
                  <a:srgbClr val="CADCFC"/>
                </a:solidFill>
                <a:latin typeface="Calibri" pitchFamily="34" charset="0"/>
                <a:ea typeface="Calibri" pitchFamily="34" charset="-122"/>
                <a:cs typeface="Calibri" pitchFamily="34" charset="-120"/>
              </a:rPr>
              <a:t>Decoding the Human Side of Attrition</a:t>
            </a:r>
            <a:endParaRPr lang="en-US" sz="2200" dirty="0"/>
          </a:p>
        </p:txBody>
      </p:sp>
      <p:sp>
        <p:nvSpPr>
          <p:cNvPr id="5" name="Shape 3"/>
          <p:cNvSpPr/>
          <p:nvPr/>
        </p:nvSpPr>
        <p:spPr>
          <a:xfrm>
            <a:off x="548640" y="2148840"/>
            <a:ext cx="1097280" cy="54864"/>
          </a:xfrm>
          <a:prstGeom prst="rect">
            <a:avLst/>
          </a:prstGeom>
          <a:solidFill>
            <a:srgbClr val="F4A261"/>
          </a:solidFill>
          <a:ln w="12700">
            <a:solidFill>
              <a:srgbClr val="F4A261"/>
            </a:solidFill>
            <a:prstDash val="solid"/>
          </a:ln>
        </p:spPr>
      </p:sp>
      <p:sp>
        <p:nvSpPr>
          <p:cNvPr id="6" name="Text 4"/>
          <p:cNvSpPr/>
          <p:nvPr/>
        </p:nvSpPr>
        <p:spPr>
          <a:xfrm>
            <a:off x="548640" y="3657600"/>
            <a:ext cx="45720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Lorenzo Di Salvatore</a:t>
            </a:r>
            <a:endParaRPr lang="en-US" sz="1400" dirty="0"/>
          </a:p>
        </p:txBody>
      </p:sp>
      <p:sp>
        <p:nvSpPr>
          <p:cNvPr id="7" name="Text 5"/>
          <p:cNvSpPr/>
          <p:nvPr/>
        </p:nvSpPr>
        <p:spPr>
          <a:xfrm>
            <a:off x="548640" y="4005072"/>
            <a:ext cx="7315200" cy="320040"/>
          </a:xfrm>
          <a:prstGeom prst="rect">
            <a:avLst/>
          </a:prstGeom>
          <a:noFill/>
          <a:ln/>
        </p:spPr>
        <p:txBody>
          <a:bodyPr wrap="square" rtlCol="0" anchor="ctr"/>
          <a:lstStyle/>
          <a:p>
            <a:pPr indent="0" marL="0">
              <a:buNone/>
            </a:pPr>
            <a:r>
              <a:rPr lang="en-US" sz="1100" dirty="0">
                <a:solidFill>
                  <a:srgbClr val="CADCFC"/>
                </a:solidFill>
                <a:latin typeface="Calibri" pitchFamily="34" charset="0"/>
                <a:ea typeface="Calibri" pitchFamily="34" charset="-122"/>
                <a:cs typeface="Calibri" pitchFamily="34" charset="-120"/>
              </a:rPr>
              <a:t>Work &amp; Organizational Psychology | HR Data Analytics Specialist</a:t>
            </a:r>
            <a:endParaRPr lang="en-US" sz="1100" dirty="0"/>
          </a:p>
        </p:txBody>
      </p:sp>
      <p:sp>
        <p:nvSpPr>
          <p:cNvPr id="8" name="Text 6"/>
          <p:cNvSpPr/>
          <p:nvPr/>
        </p:nvSpPr>
        <p:spPr>
          <a:xfrm>
            <a:off x="548640" y="4572000"/>
            <a:ext cx="8046720" cy="274320"/>
          </a:xfrm>
          <a:prstGeom prst="rect">
            <a:avLst/>
          </a:prstGeom>
          <a:noFill/>
          <a:ln/>
        </p:spPr>
        <p:txBody>
          <a:bodyPr wrap="square" rtlCol="0" anchor="ctr"/>
          <a:lstStyle/>
          <a:p>
            <a:pPr indent="0" marL="0">
              <a:buNone/>
            </a:pPr>
            <a:r>
              <a:rPr lang="en-US" sz="1000" dirty="0">
                <a:solidFill>
                  <a:srgbClr val="8899BB"/>
                </a:solidFill>
                <a:latin typeface="Calibri" pitchFamily="34" charset="0"/>
                <a:ea typeface="Calibri" pitchFamily="34" charset="-122"/>
                <a:cs typeface="Calibri" pitchFamily="34" charset="-120"/>
              </a:rPr>
              <a:t>Dataset: IBM HR Attrition  ·  1,470 records  ·  35 variables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Project Overview: The Cultural Biopsy</a:t>
            </a:r>
            <a:endParaRPr lang="en-US" sz="2600" dirty="0"/>
          </a:p>
        </p:txBody>
      </p:sp>
      <p:sp>
        <p:nvSpPr>
          <p:cNvPr id="3" name="Shape 1"/>
          <p:cNvSpPr/>
          <p:nvPr/>
        </p:nvSpPr>
        <p:spPr>
          <a:xfrm>
            <a:off x="0" y="0"/>
            <a:ext cx="109728" cy="5143500"/>
          </a:xfrm>
          <a:prstGeom prst="rect">
            <a:avLst/>
          </a:prstGeom>
          <a:solidFill>
            <a:srgbClr val="1E2761"/>
          </a:solidFill>
          <a:ln w="12700">
            <a:solidFill>
              <a:srgbClr val="1E2761"/>
            </a:solidFill>
            <a:prstDash val="solid"/>
          </a:ln>
        </p:spPr>
      </p:sp>
      <p:sp>
        <p:nvSpPr>
          <p:cNvPr id="4" name="Shape 2"/>
          <p:cNvSpPr/>
          <p:nvPr/>
        </p:nvSpPr>
        <p:spPr>
          <a:xfrm>
            <a:off x="365760" y="1005840"/>
            <a:ext cx="2651760" cy="3291840"/>
          </a:xfrm>
          <a:prstGeom prst="rect">
            <a:avLst/>
          </a:prstGeom>
          <a:solidFill>
            <a:srgbClr val="F0F4FF"/>
          </a:solidFill>
          <a:ln w="12700">
            <a:solidFill>
              <a:srgbClr val="CADCFC"/>
            </a:solidFill>
            <a:prstDash val="solid"/>
          </a:ln>
        </p:spPr>
      </p:sp>
      <p:sp>
        <p:nvSpPr>
          <p:cNvPr id="5" name="Text 3"/>
          <p:cNvSpPr/>
          <p:nvPr/>
        </p:nvSpPr>
        <p:spPr>
          <a:xfrm>
            <a:off x="365760" y="1143000"/>
            <a:ext cx="265176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475488" y="1691640"/>
            <a:ext cx="2432304" cy="41148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Beyond Descriptive Stats</a:t>
            </a:r>
            <a:endParaRPr lang="en-US" sz="1200" dirty="0"/>
          </a:p>
        </p:txBody>
      </p:sp>
      <p:sp>
        <p:nvSpPr>
          <p:cNvPr id="7" name="Text 5"/>
          <p:cNvSpPr/>
          <p:nvPr/>
        </p:nvSpPr>
        <p:spPr>
          <a:xfrm>
            <a:off x="475488" y="2148840"/>
            <a:ext cx="2432304" cy="1920240"/>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Standard HR reporting counts exits. This project asks why — identifying behavioral and structural mechanisms invisible to traditional metrics.</a:t>
            </a:r>
            <a:endParaRPr lang="en-US" sz="1100" dirty="0"/>
          </a:p>
        </p:txBody>
      </p:sp>
      <p:sp>
        <p:nvSpPr>
          <p:cNvPr id="8" name="Shape 6"/>
          <p:cNvSpPr/>
          <p:nvPr/>
        </p:nvSpPr>
        <p:spPr>
          <a:xfrm>
            <a:off x="3218688" y="1005840"/>
            <a:ext cx="2651760" cy="3291840"/>
          </a:xfrm>
          <a:prstGeom prst="rect">
            <a:avLst/>
          </a:prstGeom>
          <a:solidFill>
            <a:srgbClr val="F0F4FF"/>
          </a:solidFill>
          <a:ln w="12700">
            <a:solidFill>
              <a:srgbClr val="CADCFC"/>
            </a:solidFill>
            <a:prstDash val="solid"/>
          </a:ln>
        </p:spPr>
      </p:sp>
      <p:sp>
        <p:nvSpPr>
          <p:cNvPr id="9" name="Text 7"/>
          <p:cNvSpPr/>
          <p:nvPr/>
        </p:nvSpPr>
        <p:spPr>
          <a:xfrm>
            <a:off x="3218688" y="1143000"/>
            <a:ext cx="265176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3328416" y="1691640"/>
            <a:ext cx="2432304" cy="41148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Psychological Lens</a:t>
            </a:r>
            <a:endParaRPr lang="en-US" sz="1200" dirty="0"/>
          </a:p>
        </p:txBody>
      </p:sp>
      <p:sp>
        <p:nvSpPr>
          <p:cNvPr id="11" name="Text 9"/>
          <p:cNvSpPr/>
          <p:nvPr/>
        </p:nvSpPr>
        <p:spPr>
          <a:xfrm>
            <a:off x="3328416" y="2148840"/>
            <a:ext cx="2432304" cy="1920240"/>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Work &amp; Organizational Psychology frameworks (Herzberg, Maslach, Deci &amp; Ryan, Rousseau) applied directly to employee data.</a:t>
            </a:r>
            <a:endParaRPr lang="en-US" sz="1100" dirty="0"/>
          </a:p>
        </p:txBody>
      </p:sp>
      <p:sp>
        <p:nvSpPr>
          <p:cNvPr id="12" name="Shape 10"/>
          <p:cNvSpPr/>
          <p:nvPr/>
        </p:nvSpPr>
        <p:spPr>
          <a:xfrm>
            <a:off x="6071616" y="1005840"/>
            <a:ext cx="2651760" cy="3291840"/>
          </a:xfrm>
          <a:prstGeom prst="rect">
            <a:avLst/>
          </a:prstGeom>
          <a:solidFill>
            <a:srgbClr val="F0F4FF"/>
          </a:solidFill>
          <a:ln w="12700">
            <a:solidFill>
              <a:srgbClr val="CADCFC"/>
            </a:solidFill>
            <a:prstDash val="solid"/>
          </a:ln>
        </p:spPr>
      </p:sp>
      <p:sp>
        <p:nvSpPr>
          <p:cNvPr id="13" name="Text 11"/>
          <p:cNvSpPr/>
          <p:nvPr/>
        </p:nvSpPr>
        <p:spPr>
          <a:xfrm>
            <a:off x="6071616" y="1143000"/>
            <a:ext cx="265176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6181344" y="1691640"/>
            <a:ext cx="2432304" cy="41148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Dual-Tool Architecture</a:t>
            </a:r>
            <a:endParaRPr lang="en-US" sz="1200" dirty="0"/>
          </a:p>
        </p:txBody>
      </p:sp>
      <p:sp>
        <p:nvSpPr>
          <p:cNvPr id="15" name="Text 13"/>
          <p:cNvSpPr/>
          <p:nvPr/>
        </p:nvSpPr>
        <p:spPr>
          <a:xfrm>
            <a:off x="6181344" y="2148840"/>
            <a:ext cx="2432304" cy="1920240"/>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Python (Pandas, Seaborn) for statistical modelling. Power BI (DAX) for operational dashboards and managerial decision interfaces.</a:t>
            </a:r>
            <a:endParaRPr lang="en-US" sz="1100" dirty="0"/>
          </a:p>
        </p:txBody>
      </p:sp>
      <p:sp>
        <p:nvSpPr>
          <p:cNvPr id="16" name="Text 14"/>
          <p:cNvSpPr/>
          <p:nvPr/>
        </p:nvSpPr>
        <p:spPr>
          <a:xfrm>
            <a:off x="457200" y="4480560"/>
            <a:ext cx="8229600" cy="32004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Attrition rate: 16.1%  ·  237 of 1,470 employees left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Executive Summary</a:t>
            </a:r>
            <a:endParaRPr lang="en-US" sz="2800" dirty="0"/>
          </a:p>
        </p:txBody>
      </p:sp>
      <p:sp>
        <p:nvSpPr>
          <p:cNvPr id="3" name="Text 1"/>
          <p:cNvSpPr/>
          <p:nvPr/>
        </p:nvSpPr>
        <p:spPr>
          <a:xfrm>
            <a:off x="457200" y="658368"/>
            <a:ext cx="8229600" cy="320040"/>
          </a:xfrm>
          <a:prstGeom prst="rect">
            <a:avLst/>
          </a:prstGeom>
          <a:noFill/>
          <a:ln/>
        </p:spPr>
        <p:txBody>
          <a:bodyPr wrap="square" rtlCol="0" anchor="ctr"/>
          <a:lstStyle/>
          <a:p>
            <a:pPr indent="0" marL="0">
              <a:buNone/>
            </a:pPr>
            <a:r>
              <a:rPr lang="en-US" sz="1300" i="1" dirty="0">
                <a:solidFill>
                  <a:srgbClr val="CADCFC"/>
                </a:solidFill>
                <a:latin typeface="Calibri" pitchFamily="34" charset="0"/>
                <a:ea typeface="Calibri" pitchFamily="34" charset="-122"/>
                <a:cs typeface="Calibri" pitchFamily="34" charset="-120"/>
              </a:rPr>
              <a:t>Four fault lines — confirmed by data</a:t>
            </a:r>
            <a:endParaRPr lang="en-US" sz="1300" dirty="0"/>
          </a:p>
        </p:txBody>
      </p:sp>
      <p:sp>
        <p:nvSpPr>
          <p:cNvPr id="4" name="Shape 2"/>
          <p:cNvSpPr/>
          <p:nvPr/>
        </p:nvSpPr>
        <p:spPr>
          <a:xfrm>
            <a:off x="274320" y="1188720"/>
            <a:ext cx="4023360" cy="1508760"/>
          </a:xfrm>
          <a:prstGeom prst="rect">
            <a:avLst/>
          </a:prstGeom>
          <a:solidFill>
            <a:srgbClr val="253680"/>
          </a:solidFill>
          <a:ln w="12700">
            <a:solidFill>
              <a:srgbClr val="3D4F9E"/>
            </a:solidFill>
            <a:prstDash val="solid"/>
          </a:ln>
        </p:spPr>
      </p:sp>
      <p:sp>
        <p:nvSpPr>
          <p:cNvPr id="5" name="Shape 3"/>
          <p:cNvSpPr/>
          <p:nvPr/>
        </p:nvSpPr>
        <p:spPr>
          <a:xfrm>
            <a:off x="274320" y="1188720"/>
            <a:ext cx="73152" cy="1508760"/>
          </a:xfrm>
          <a:prstGeom prst="rect">
            <a:avLst/>
          </a:prstGeom>
          <a:solidFill>
            <a:srgbClr val="F4A261"/>
          </a:solidFill>
          <a:ln w="12700">
            <a:solidFill>
              <a:srgbClr val="F4A261"/>
            </a:solidFill>
            <a:prstDash val="solid"/>
          </a:ln>
        </p:spPr>
      </p:sp>
      <p:sp>
        <p:nvSpPr>
          <p:cNvPr id="6" name="Text 4"/>
          <p:cNvSpPr/>
          <p:nvPr/>
        </p:nvSpPr>
        <p:spPr>
          <a:xfrm>
            <a:off x="457200" y="1325880"/>
            <a:ext cx="3657600" cy="640080"/>
          </a:xfrm>
          <a:prstGeom prst="rect">
            <a:avLst/>
          </a:prstGeom>
          <a:noFill/>
          <a:ln/>
        </p:spPr>
        <p:txBody>
          <a:bodyPr wrap="square" rtlCol="0" anchor="ctr"/>
          <a:lstStyle/>
          <a:p>
            <a:pPr indent="0" marL="0">
              <a:buNone/>
            </a:pPr>
            <a:r>
              <a:rPr lang="en-US" sz="3200" b="1" dirty="0">
                <a:solidFill>
                  <a:srgbClr val="F4A261"/>
                </a:solidFill>
                <a:latin typeface="Calibri" pitchFamily="34" charset="0"/>
                <a:ea typeface="Calibri" pitchFamily="34" charset="-122"/>
                <a:cs typeface="Calibri" pitchFamily="34" charset="-120"/>
              </a:rPr>
              <a:t>30.5%</a:t>
            </a:r>
            <a:endParaRPr lang="en-US" sz="3200" dirty="0"/>
          </a:p>
        </p:txBody>
      </p:sp>
      <p:sp>
        <p:nvSpPr>
          <p:cNvPr id="7" name="Text 5"/>
          <p:cNvSpPr/>
          <p:nvPr/>
        </p:nvSpPr>
        <p:spPr>
          <a:xfrm>
            <a:off x="457200" y="1901952"/>
            <a:ext cx="365760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Attrition — Overtime employees</a:t>
            </a:r>
            <a:endParaRPr lang="en-US" sz="1200" dirty="0"/>
          </a:p>
        </p:txBody>
      </p:sp>
      <p:sp>
        <p:nvSpPr>
          <p:cNvPr id="8" name="Text 6"/>
          <p:cNvSpPr/>
          <p:nvPr/>
        </p:nvSpPr>
        <p:spPr>
          <a:xfrm>
            <a:off x="457200" y="2194560"/>
            <a:ext cx="3657600" cy="32004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vs 10.4% without overtime</a:t>
            </a:r>
            <a:endParaRPr lang="en-US" sz="1000" dirty="0"/>
          </a:p>
        </p:txBody>
      </p:sp>
      <p:sp>
        <p:nvSpPr>
          <p:cNvPr id="9" name="Shape 7"/>
          <p:cNvSpPr/>
          <p:nvPr/>
        </p:nvSpPr>
        <p:spPr>
          <a:xfrm>
            <a:off x="4663440" y="1188720"/>
            <a:ext cx="4023360" cy="1508760"/>
          </a:xfrm>
          <a:prstGeom prst="rect">
            <a:avLst/>
          </a:prstGeom>
          <a:solidFill>
            <a:srgbClr val="253680"/>
          </a:solidFill>
          <a:ln w="12700">
            <a:solidFill>
              <a:srgbClr val="3D4F9E"/>
            </a:solidFill>
            <a:prstDash val="solid"/>
          </a:ln>
        </p:spPr>
      </p:sp>
      <p:sp>
        <p:nvSpPr>
          <p:cNvPr id="10" name="Shape 8"/>
          <p:cNvSpPr/>
          <p:nvPr/>
        </p:nvSpPr>
        <p:spPr>
          <a:xfrm>
            <a:off x="4663440" y="1188720"/>
            <a:ext cx="73152" cy="1508760"/>
          </a:xfrm>
          <a:prstGeom prst="rect">
            <a:avLst/>
          </a:prstGeom>
          <a:solidFill>
            <a:srgbClr val="F4A261"/>
          </a:solidFill>
          <a:ln w="12700">
            <a:solidFill>
              <a:srgbClr val="F4A261"/>
            </a:solidFill>
            <a:prstDash val="solid"/>
          </a:ln>
        </p:spPr>
      </p:sp>
      <p:sp>
        <p:nvSpPr>
          <p:cNvPr id="11" name="Text 9"/>
          <p:cNvSpPr/>
          <p:nvPr/>
        </p:nvSpPr>
        <p:spPr>
          <a:xfrm>
            <a:off x="4846320" y="1325880"/>
            <a:ext cx="3657600" cy="640080"/>
          </a:xfrm>
          <a:prstGeom prst="rect">
            <a:avLst/>
          </a:prstGeom>
          <a:noFill/>
          <a:ln/>
        </p:spPr>
        <p:txBody>
          <a:bodyPr wrap="square" rtlCol="0" anchor="ctr"/>
          <a:lstStyle/>
          <a:p>
            <a:pPr indent="0" marL="0">
              <a:buNone/>
            </a:pPr>
            <a:r>
              <a:rPr lang="en-US" sz="3200" b="1" dirty="0">
                <a:solidFill>
                  <a:srgbClr val="F4A261"/>
                </a:solidFill>
                <a:latin typeface="Calibri" pitchFamily="34" charset="0"/>
                <a:ea typeface="Calibri" pitchFamily="34" charset="-122"/>
                <a:cs typeface="Calibri" pitchFamily="34" charset="-120"/>
              </a:rPr>
              <a:t>39.8%</a:t>
            </a:r>
            <a:endParaRPr lang="en-US" sz="3200" dirty="0"/>
          </a:p>
        </p:txBody>
      </p:sp>
      <p:sp>
        <p:nvSpPr>
          <p:cNvPr id="12" name="Text 10"/>
          <p:cNvSpPr/>
          <p:nvPr/>
        </p:nvSpPr>
        <p:spPr>
          <a:xfrm>
            <a:off x="4846320" y="1901952"/>
            <a:ext cx="365760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Sales Representatives</a:t>
            </a:r>
            <a:endParaRPr lang="en-US" sz="1200" dirty="0"/>
          </a:p>
        </p:txBody>
      </p:sp>
      <p:sp>
        <p:nvSpPr>
          <p:cNvPr id="13" name="Text 11"/>
          <p:cNvSpPr/>
          <p:nvPr/>
        </p:nvSpPr>
        <p:spPr>
          <a:xfrm>
            <a:off x="4846320" y="2194560"/>
            <a:ext cx="3657600" cy="32004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Highest of any job role</a:t>
            </a:r>
            <a:endParaRPr lang="en-US" sz="1000" dirty="0"/>
          </a:p>
        </p:txBody>
      </p:sp>
      <p:sp>
        <p:nvSpPr>
          <p:cNvPr id="14" name="Shape 12"/>
          <p:cNvSpPr/>
          <p:nvPr/>
        </p:nvSpPr>
        <p:spPr>
          <a:xfrm>
            <a:off x="274320" y="2926080"/>
            <a:ext cx="4023360" cy="1508760"/>
          </a:xfrm>
          <a:prstGeom prst="rect">
            <a:avLst/>
          </a:prstGeom>
          <a:solidFill>
            <a:srgbClr val="253680"/>
          </a:solidFill>
          <a:ln w="12700">
            <a:solidFill>
              <a:srgbClr val="3D4F9E"/>
            </a:solidFill>
            <a:prstDash val="solid"/>
          </a:ln>
        </p:spPr>
      </p:sp>
      <p:sp>
        <p:nvSpPr>
          <p:cNvPr id="15" name="Shape 13"/>
          <p:cNvSpPr/>
          <p:nvPr/>
        </p:nvSpPr>
        <p:spPr>
          <a:xfrm>
            <a:off x="274320" y="2926080"/>
            <a:ext cx="73152" cy="1508760"/>
          </a:xfrm>
          <a:prstGeom prst="rect">
            <a:avLst/>
          </a:prstGeom>
          <a:solidFill>
            <a:srgbClr val="F4A261"/>
          </a:solidFill>
          <a:ln w="12700">
            <a:solidFill>
              <a:srgbClr val="F4A261"/>
            </a:solidFill>
            <a:prstDash val="solid"/>
          </a:ln>
        </p:spPr>
      </p:sp>
      <p:sp>
        <p:nvSpPr>
          <p:cNvPr id="16" name="Text 14"/>
          <p:cNvSpPr/>
          <p:nvPr/>
        </p:nvSpPr>
        <p:spPr>
          <a:xfrm>
            <a:off x="457200" y="3063240"/>
            <a:ext cx="3657600" cy="640080"/>
          </a:xfrm>
          <a:prstGeom prst="rect">
            <a:avLst/>
          </a:prstGeom>
          <a:noFill/>
          <a:ln/>
        </p:spPr>
        <p:txBody>
          <a:bodyPr wrap="square" rtlCol="0" anchor="ctr"/>
          <a:lstStyle/>
          <a:p>
            <a:pPr indent="0" marL="0">
              <a:buNone/>
            </a:pPr>
            <a:r>
              <a:rPr lang="en-US" sz="3200" b="1" dirty="0">
                <a:solidFill>
                  <a:srgbClr val="F4A261"/>
                </a:solidFill>
                <a:latin typeface="Calibri" pitchFamily="34" charset="0"/>
                <a:ea typeface="Calibri" pitchFamily="34" charset="-122"/>
                <a:cs typeface="Calibri" pitchFamily="34" charset="-120"/>
              </a:rPr>
              <a:t>$3,202</a:t>
            </a:r>
            <a:endParaRPr lang="en-US" sz="3200" dirty="0"/>
          </a:p>
        </p:txBody>
      </p:sp>
      <p:sp>
        <p:nvSpPr>
          <p:cNvPr id="17" name="Text 15"/>
          <p:cNvSpPr/>
          <p:nvPr/>
        </p:nvSpPr>
        <p:spPr>
          <a:xfrm>
            <a:off x="457200" y="3639312"/>
            <a:ext cx="365760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Median income — who left</a:t>
            </a:r>
            <a:endParaRPr lang="en-US" sz="1200" dirty="0"/>
          </a:p>
        </p:txBody>
      </p:sp>
      <p:sp>
        <p:nvSpPr>
          <p:cNvPr id="18" name="Text 16"/>
          <p:cNvSpPr/>
          <p:nvPr/>
        </p:nvSpPr>
        <p:spPr>
          <a:xfrm>
            <a:off x="457200" y="3931920"/>
            <a:ext cx="3657600" cy="32004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vs $5,204 who stayed</a:t>
            </a:r>
            <a:endParaRPr lang="en-US" sz="1000" dirty="0"/>
          </a:p>
        </p:txBody>
      </p:sp>
      <p:sp>
        <p:nvSpPr>
          <p:cNvPr id="19" name="Shape 17"/>
          <p:cNvSpPr/>
          <p:nvPr/>
        </p:nvSpPr>
        <p:spPr>
          <a:xfrm>
            <a:off x="4663440" y="2926080"/>
            <a:ext cx="4023360" cy="1508760"/>
          </a:xfrm>
          <a:prstGeom prst="rect">
            <a:avLst/>
          </a:prstGeom>
          <a:solidFill>
            <a:srgbClr val="253680"/>
          </a:solidFill>
          <a:ln w="12700">
            <a:solidFill>
              <a:srgbClr val="3D4F9E"/>
            </a:solidFill>
            <a:prstDash val="solid"/>
          </a:ln>
        </p:spPr>
      </p:sp>
      <p:sp>
        <p:nvSpPr>
          <p:cNvPr id="20" name="Shape 18"/>
          <p:cNvSpPr/>
          <p:nvPr/>
        </p:nvSpPr>
        <p:spPr>
          <a:xfrm>
            <a:off x="4663440" y="2926080"/>
            <a:ext cx="73152" cy="1508760"/>
          </a:xfrm>
          <a:prstGeom prst="rect">
            <a:avLst/>
          </a:prstGeom>
          <a:solidFill>
            <a:srgbClr val="F4A261"/>
          </a:solidFill>
          <a:ln w="12700">
            <a:solidFill>
              <a:srgbClr val="F4A261"/>
            </a:solidFill>
            <a:prstDash val="solid"/>
          </a:ln>
        </p:spPr>
      </p:sp>
      <p:sp>
        <p:nvSpPr>
          <p:cNvPr id="21" name="Text 19"/>
          <p:cNvSpPr/>
          <p:nvPr/>
        </p:nvSpPr>
        <p:spPr>
          <a:xfrm>
            <a:off x="4846320" y="3063240"/>
            <a:ext cx="3657600" cy="640080"/>
          </a:xfrm>
          <a:prstGeom prst="rect">
            <a:avLst/>
          </a:prstGeom>
          <a:noFill/>
          <a:ln/>
        </p:spPr>
        <p:txBody>
          <a:bodyPr wrap="square" rtlCol="0" anchor="ctr"/>
          <a:lstStyle/>
          <a:p>
            <a:pPr indent="0" marL="0">
              <a:buNone/>
            </a:pPr>
            <a:r>
              <a:rPr lang="en-US" sz="3200" b="1" dirty="0">
                <a:solidFill>
                  <a:srgbClr val="F4A261"/>
                </a:solidFill>
                <a:latin typeface="Calibri" pitchFamily="34" charset="0"/>
                <a:ea typeface="Calibri" pitchFamily="34" charset="-122"/>
                <a:cs typeface="Calibri" pitchFamily="34" charset="-120"/>
              </a:rPr>
              <a:t>32.3%</a:t>
            </a:r>
            <a:endParaRPr lang="en-US" sz="3200" dirty="0"/>
          </a:p>
        </p:txBody>
      </p:sp>
      <p:sp>
        <p:nvSpPr>
          <p:cNvPr id="22" name="Text 20"/>
          <p:cNvSpPr/>
          <p:nvPr/>
        </p:nvSpPr>
        <p:spPr>
          <a:xfrm>
            <a:off x="4846320" y="3639312"/>
            <a:ext cx="365760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Year 0 with new manager</a:t>
            </a:r>
            <a:endParaRPr lang="en-US" sz="1200" dirty="0"/>
          </a:p>
        </p:txBody>
      </p:sp>
      <p:sp>
        <p:nvSpPr>
          <p:cNvPr id="23" name="Text 21"/>
          <p:cNvSpPr/>
          <p:nvPr/>
        </p:nvSpPr>
        <p:spPr>
          <a:xfrm>
            <a:off x="4846320" y="3931920"/>
            <a:ext cx="3657600" cy="32004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Sharpest cliff in the dataset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Finding 1: The Overtime Stress Multiplier</a:t>
            </a:r>
            <a:endParaRPr lang="en-US" sz="2600" dirty="0"/>
          </a:p>
        </p:txBody>
      </p:sp>
      <p:sp>
        <p:nvSpPr>
          <p:cNvPr id="3" name="Shape 1"/>
          <p:cNvSpPr/>
          <p:nvPr/>
        </p:nvSpPr>
        <p:spPr>
          <a:xfrm>
            <a:off x="0" y="0"/>
            <a:ext cx="109728" cy="5143500"/>
          </a:xfrm>
          <a:prstGeom prst="rect">
            <a:avLst/>
          </a:prstGeom>
          <a:solidFill>
            <a:srgbClr val="1E2761"/>
          </a:solidFill>
          <a:ln w="12700">
            <a:solidFill>
              <a:srgbClr val="1E2761"/>
            </a:solidFill>
            <a:prstDash val="solid"/>
          </a:ln>
        </p:spPr>
      </p:sp>
      <p:graphicFrame>
        <p:nvGraphicFramePr>
          <p:cNvPr id="4" name="Chart 0" descr=""/>
          <p:cNvGraphicFramePr/>
          <p:nvPr/>
        </p:nvGraphicFramePr>
        <p:xfrm>
          <a:off x="365760" y="868680"/>
          <a:ext cx="4206240" cy="34747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4846320" y="868680"/>
            <a:ext cx="3931920" cy="1234440"/>
          </a:xfrm>
          <a:prstGeom prst="rect">
            <a:avLst/>
          </a:prstGeom>
          <a:solidFill>
            <a:srgbClr val="F0F4FF"/>
          </a:solidFill>
          <a:ln w="12700">
            <a:solidFill>
              <a:srgbClr val="CADCFC"/>
            </a:solidFill>
            <a:prstDash val="solid"/>
          </a:ln>
        </p:spPr>
      </p:sp>
      <p:sp>
        <p:nvSpPr>
          <p:cNvPr id="6" name="Text 3"/>
          <p:cNvSpPr/>
          <p:nvPr/>
        </p:nvSpPr>
        <p:spPr>
          <a:xfrm>
            <a:off x="4937760" y="914400"/>
            <a:ext cx="3749040" cy="457200"/>
          </a:xfrm>
          <a:prstGeom prst="rect">
            <a:avLst/>
          </a:prstGeom>
          <a:noFill/>
          <a:ln/>
        </p:spPr>
        <p:txBody>
          <a:bodyPr wrap="square" rtlCol="0" anchor="ctr"/>
          <a:lstStyle/>
          <a:p>
            <a:pPr indent="0" marL="0">
              <a:buNone/>
            </a:pPr>
            <a:r>
              <a:rPr lang="en-US" sz="2200" b="1" dirty="0">
                <a:solidFill>
                  <a:srgbClr val="E55B4D"/>
                </a:solidFill>
                <a:latin typeface="Calibri" pitchFamily="34" charset="0"/>
                <a:ea typeface="Calibri" pitchFamily="34" charset="-122"/>
                <a:cs typeface="Calibri" pitchFamily="34" charset="-120"/>
              </a:rPr>
              <a:t>3× higher attrition</a:t>
            </a:r>
            <a:endParaRPr lang="en-US" sz="2200" dirty="0"/>
          </a:p>
        </p:txBody>
      </p:sp>
      <p:sp>
        <p:nvSpPr>
          <p:cNvPr id="7" name="Text 4"/>
          <p:cNvSpPr/>
          <p:nvPr/>
        </p:nvSpPr>
        <p:spPr>
          <a:xfrm>
            <a:off x="4937760" y="1325880"/>
            <a:ext cx="3749040" cy="320040"/>
          </a:xfrm>
          <a:prstGeom prst="rect">
            <a:avLst/>
          </a:prstGeom>
          <a:noFill/>
          <a:ln/>
        </p:spPr>
        <p:txBody>
          <a:bodyPr wrap="square" rtlCol="0" anchor="ctr"/>
          <a:lstStyle/>
          <a:p>
            <a:pPr indent="0" marL="0">
              <a:buNone/>
            </a:pPr>
            <a:r>
              <a:rPr lang="en-US" sz="1200" dirty="0">
                <a:solidFill>
                  <a:srgbClr val="1E2761"/>
                </a:solidFill>
                <a:latin typeface="Calibri" pitchFamily="34" charset="0"/>
                <a:ea typeface="Calibri" pitchFamily="34" charset="-122"/>
                <a:cs typeface="Calibri" pitchFamily="34" charset="-120"/>
              </a:rPr>
              <a:t>for overtime employees</a:t>
            </a:r>
            <a:endParaRPr lang="en-US" sz="1200" dirty="0"/>
          </a:p>
        </p:txBody>
      </p:sp>
      <p:sp>
        <p:nvSpPr>
          <p:cNvPr id="8" name="Text 5"/>
          <p:cNvSpPr/>
          <p:nvPr/>
        </p:nvSpPr>
        <p:spPr>
          <a:xfrm>
            <a:off x="4846320" y="2240280"/>
            <a:ext cx="3931920" cy="2194560"/>
          </a:xfrm>
          <a:prstGeom prst="rect">
            <a:avLst/>
          </a:prstGeom>
          <a:noFill/>
          <a:ln/>
        </p:spPr>
        <p:txBody>
          <a:bodyPr wrap="square"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Psychological mechanism:</a:t>
            </a:r>
            <a:endParaRPr lang="en-US" sz="1300" dirty="0"/>
          </a:p>
          <a:p>
            <a:pPr indent="0" marL="0">
              <a:buNone/>
            </a:pPr>
            <a:r>
              <a:rPr lang="en-US" sz="1300" dirty="0">
                <a:solidFill>
                  <a:srgbClr val="334155"/>
                </a:solidFill>
                <a:latin typeface="Calibri" pitchFamily="34" charset="0"/>
                <a:ea typeface="Calibri" pitchFamily="34" charset="-122"/>
                <a:cs typeface="Calibri" pitchFamily="34" charset="-120"/>
              </a:rPr>
              <a:t>Overtime colonizes recovery time, triggering emotional exhaustion → depersonalization → exit (Maslach &amp; Leiter, 1997).</a:t>
            </a:r>
            <a:endParaRPr lang="en-US" sz="1300" dirty="0"/>
          </a:p>
          <a:p>
            <a:pPr indent="0" marL="0">
              <a:buNone/>
            </a:pPr>
            <a:endParaRPr lang="en-US" sz="1300" dirty="0"/>
          </a:p>
          <a:p>
            <a:pPr indent="0" marL="0">
              <a:buNone/>
            </a:pPr>
            <a:r>
              <a:rPr lang="en-US" sz="1300" b="1" dirty="0">
                <a:solidFill>
                  <a:srgbClr val="1E2761"/>
                </a:solidFill>
                <a:latin typeface="Calibri" pitchFamily="34" charset="0"/>
                <a:ea typeface="Calibri" pitchFamily="34" charset="-122"/>
                <a:cs typeface="Calibri" pitchFamily="34" charset="-120"/>
              </a:rPr>
              <a:t>Organizational signal:</a:t>
            </a:r>
            <a:endParaRPr lang="en-US" sz="1300" dirty="0"/>
          </a:p>
          <a:p>
            <a:pPr indent="0" marL="0">
              <a:buNone/>
            </a:pPr>
            <a:r>
              <a:rPr lang="en-US" sz="1300" dirty="0">
                <a:solidFill>
                  <a:srgbClr val="334155"/>
                </a:solidFill>
                <a:latin typeface="Calibri" pitchFamily="34" charset="0"/>
                <a:ea typeface="Calibri" pitchFamily="34" charset="-122"/>
                <a:cs typeface="Calibri" pitchFamily="34" charset="-120"/>
              </a:rPr>
              <a:t>The exit is the final act of a burnout process that began weeks or months earlier.</a:t>
            </a:r>
            <a:endParaRPr lang="en-US" sz="1300" dirty="0"/>
          </a:p>
        </p:txBody>
      </p:sp>
      <p:sp>
        <p:nvSpPr>
          <p:cNvPr id="9" name="Text 6"/>
          <p:cNvSpPr/>
          <p:nvPr/>
        </p:nvSpPr>
        <p:spPr>
          <a:xfrm>
            <a:off x="457200" y="4800600"/>
            <a:ext cx="8229600" cy="32004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Source: IBM HR Attrition Dataset  ·  OverTime variable  ·  Pearson χ²</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Finding 2: The $3,000 Hygiene Factor Danger Zone</a:t>
            </a:r>
            <a:endParaRPr lang="en-US" sz="2600" dirty="0"/>
          </a:p>
        </p:txBody>
      </p:sp>
      <p:sp>
        <p:nvSpPr>
          <p:cNvPr id="3" name="Shape 1"/>
          <p:cNvSpPr/>
          <p:nvPr/>
        </p:nvSpPr>
        <p:spPr>
          <a:xfrm>
            <a:off x="0" y="0"/>
            <a:ext cx="109728" cy="5143500"/>
          </a:xfrm>
          <a:prstGeom prst="rect">
            <a:avLst/>
          </a:prstGeom>
          <a:solidFill>
            <a:srgbClr val="1E2761"/>
          </a:solidFill>
          <a:ln w="12700">
            <a:solidFill>
              <a:srgbClr val="1E2761"/>
            </a:solidFill>
            <a:prstDash val="solid"/>
          </a:ln>
        </p:spPr>
      </p:sp>
      <p:graphicFrame>
        <p:nvGraphicFramePr>
          <p:cNvPr id="4" name="Chart 0" descr=""/>
          <p:cNvGraphicFramePr/>
          <p:nvPr/>
        </p:nvGraphicFramePr>
        <p:xfrm>
          <a:off x="365760" y="868680"/>
          <a:ext cx="4206240" cy="34747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4846320" y="868680"/>
            <a:ext cx="3931920" cy="1097280"/>
          </a:xfrm>
          <a:prstGeom prst="rect">
            <a:avLst/>
          </a:prstGeom>
          <a:solidFill>
            <a:srgbClr val="FFF3E0"/>
          </a:solidFill>
          <a:ln w="12700">
            <a:solidFill>
              <a:srgbClr val="F4A261"/>
            </a:solidFill>
            <a:prstDash val="solid"/>
          </a:ln>
        </p:spPr>
      </p:sp>
      <p:sp>
        <p:nvSpPr>
          <p:cNvPr id="6" name="Text 3"/>
          <p:cNvSpPr/>
          <p:nvPr/>
        </p:nvSpPr>
        <p:spPr>
          <a:xfrm>
            <a:off x="4937760" y="914400"/>
            <a:ext cx="3749040" cy="365760"/>
          </a:xfrm>
          <a:prstGeom prst="rect">
            <a:avLst/>
          </a:prstGeom>
          <a:noFill/>
          <a:ln/>
        </p:spPr>
        <p:txBody>
          <a:bodyPr wrap="square" rtlCol="0" anchor="ctr"/>
          <a:lstStyle/>
          <a:p>
            <a:pPr indent="0" marL="0">
              <a:buNone/>
            </a:pPr>
            <a:r>
              <a:rPr lang="en-US" sz="1500" b="1" dirty="0">
                <a:solidFill>
                  <a:srgbClr val="F4A261"/>
                </a:solidFill>
                <a:latin typeface="Calibri" pitchFamily="34" charset="0"/>
                <a:ea typeface="Calibri" pitchFamily="34" charset="-122"/>
                <a:cs typeface="Calibri" pitchFamily="34" charset="-120"/>
              </a:rPr>
              <a:t>Herzberg's Hygiene Factor</a:t>
            </a:r>
            <a:endParaRPr lang="en-US" sz="1500" dirty="0"/>
          </a:p>
        </p:txBody>
      </p:sp>
      <p:sp>
        <p:nvSpPr>
          <p:cNvPr id="7" name="Text 4"/>
          <p:cNvSpPr/>
          <p:nvPr/>
        </p:nvSpPr>
        <p:spPr>
          <a:xfrm>
            <a:off x="4937760" y="1261872"/>
            <a:ext cx="3749040" cy="320040"/>
          </a:xfrm>
          <a:prstGeom prst="rect">
            <a:avLst/>
          </a:prstGeom>
          <a:noFill/>
          <a:ln/>
        </p:spPr>
        <p:txBody>
          <a:bodyPr wrap="square" rtlCol="0" anchor="ctr"/>
          <a:lstStyle/>
          <a:p>
            <a:pPr indent="0" marL="0">
              <a:buNone/>
            </a:pPr>
            <a:r>
              <a:rPr lang="en-US" sz="1100" dirty="0">
                <a:solidFill>
                  <a:srgbClr val="7C4A00"/>
                </a:solidFill>
                <a:latin typeface="Calibri" pitchFamily="34" charset="0"/>
                <a:ea typeface="Calibri" pitchFamily="34" charset="-122"/>
                <a:cs typeface="Calibri" pitchFamily="34" charset="-120"/>
              </a:rPr>
              <a:t>Below $3,000/month → dissatisfaction trap</a:t>
            </a:r>
            <a:endParaRPr lang="en-US" sz="1100" dirty="0"/>
          </a:p>
        </p:txBody>
      </p:sp>
      <p:sp>
        <p:nvSpPr>
          <p:cNvPr id="8" name="Text 5"/>
          <p:cNvSpPr/>
          <p:nvPr/>
        </p:nvSpPr>
        <p:spPr>
          <a:xfrm>
            <a:off x="4846320" y="2103120"/>
            <a:ext cx="3931920" cy="2606040"/>
          </a:xfrm>
          <a:prstGeom prst="rect">
            <a:avLst/>
          </a:prstGeom>
          <a:noFill/>
          <a:ln/>
        </p:spPr>
        <p:txBody>
          <a:bodyPr wrap="square"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Correlation with attrition:</a:t>
            </a:r>
            <a:endParaRPr lang="en-US" sz="1300" dirty="0"/>
          </a:p>
          <a:p>
            <a:pPr indent="0" marL="0">
              <a:buNone/>
            </a:pPr>
            <a:r>
              <a:rPr lang="en-US" sz="1300" dirty="0">
                <a:solidFill>
                  <a:srgbClr val="334155"/>
                </a:solidFill>
                <a:latin typeface="Calibri" pitchFamily="34" charset="0"/>
                <a:ea typeface="Calibri" pitchFamily="34" charset="-122"/>
                <a:cs typeface="Calibri" pitchFamily="34" charset="-120"/>
              </a:rPr>
              <a:t>MonthlyIncome = −0.160 (strongest single variable)</a:t>
            </a:r>
            <a:endParaRPr lang="en-US" sz="1300" dirty="0"/>
          </a:p>
          <a:p>
            <a:pPr indent="0" marL="0">
              <a:buNone/>
            </a:pPr>
            <a:endParaRPr lang="en-US" sz="1300" dirty="0"/>
          </a:p>
          <a:p>
            <a:pPr indent="0" marL="0">
              <a:buNone/>
            </a:pPr>
            <a:r>
              <a:rPr lang="en-US" sz="1300" b="1" dirty="0">
                <a:solidFill>
                  <a:srgbClr val="1E2761"/>
                </a:solidFill>
                <a:latin typeface="Calibri" pitchFamily="34" charset="0"/>
                <a:ea typeface="Calibri" pitchFamily="34" charset="-122"/>
                <a:cs typeface="Calibri" pitchFamily="34" charset="-120"/>
              </a:rPr>
              <a:t>Key insight:</a:t>
            </a:r>
            <a:endParaRPr lang="en-US" sz="1300" dirty="0"/>
          </a:p>
          <a:p>
            <a:pPr indent="0" marL="0">
              <a:buNone/>
            </a:pPr>
            <a:r>
              <a:rPr lang="en-US" sz="1300" dirty="0">
                <a:solidFill>
                  <a:srgbClr val="334155"/>
                </a:solidFill>
                <a:latin typeface="Calibri" pitchFamily="34" charset="0"/>
                <a:ea typeface="Calibri" pitchFamily="34" charset="-122"/>
                <a:cs typeface="Calibri" pitchFamily="34" charset="-120"/>
              </a:rPr>
              <a:t>No culture program, recognition initiative, or flexible benefit can compensate for base pay that fails to meet living standards (Herzberg, 1959).</a:t>
            </a:r>
            <a:endParaRPr lang="en-US" sz="1300" dirty="0"/>
          </a:p>
          <a:p>
            <a:pPr indent="0" marL="0">
              <a:buNone/>
            </a:pPr>
            <a:endParaRPr lang="en-US" sz="1300" dirty="0"/>
          </a:p>
          <a:p>
            <a:pPr indent="0" marL="0">
              <a:buNone/>
            </a:pPr>
            <a:r>
              <a:rPr lang="en-US" sz="1300" b="1" dirty="0">
                <a:solidFill>
                  <a:srgbClr val="1E2761"/>
                </a:solidFill>
                <a:latin typeface="Calibri" pitchFamily="34" charset="0"/>
                <a:ea typeface="Calibri" pitchFamily="34" charset="-122"/>
                <a:cs typeface="Calibri" pitchFamily="34" charset="-120"/>
              </a:rPr>
              <a:t>Action threshold:</a:t>
            </a:r>
            <a:endParaRPr lang="en-US" sz="1300" dirty="0"/>
          </a:p>
          <a:p>
            <a:pPr indent="0" marL="0">
              <a:buNone/>
            </a:pPr>
            <a:r>
              <a:rPr lang="en-US" sz="1300" dirty="0">
                <a:solidFill>
                  <a:srgbClr val="334155"/>
                </a:solidFill>
                <a:latin typeface="Calibri" pitchFamily="34" charset="0"/>
                <a:ea typeface="Calibri" pitchFamily="34" charset="-122"/>
                <a:cs typeface="Calibri" pitchFamily="34" charset="-120"/>
              </a:rPr>
              <a:t>$3,000–$3,500/month is the floor below which all other retention levers lose effectiveness.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Finding 3: Role-Specific Fragility</a:t>
            </a:r>
            <a:endParaRPr lang="en-US" sz="2600" dirty="0"/>
          </a:p>
        </p:txBody>
      </p:sp>
      <p:sp>
        <p:nvSpPr>
          <p:cNvPr id="3" name="Shape 1"/>
          <p:cNvSpPr/>
          <p:nvPr/>
        </p:nvSpPr>
        <p:spPr>
          <a:xfrm>
            <a:off x="0" y="0"/>
            <a:ext cx="109728" cy="5143500"/>
          </a:xfrm>
          <a:prstGeom prst="rect">
            <a:avLst/>
          </a:prstGeom>
          <a:solidFill>
            <a:srgbClr val="1E2761"/>
          </a:solidFill>
          <a:ln w="12700">
            <a:solidFill>
              <a:srgbClr val="1E2761"/>
            </a:solidFill>
            <a:prstDash val="solid"/>
          </a:ln>
        </p:spPr>
      </p:sp>
      <p:graphicFrame>
        <p:nvGraphicFramePr>
          <p:cNvPr id="4" name="Chart 0" descr=""/>
          <p:cNvGraphicFramePr/>
          <p:nvPr/>
        </p:nvGraphicFramePr>
        <p:xfrm>
          <a:off x="365760" y="822960"/>
          <a:ext cx="5303520" cy="36576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852160" y="868680"/>
            <a:ext cx="2926080" cy="320040"/>
          </a:xfrm>
          <a:prstGeom prst="rect">
            <a:avLst/>
          </a:prstGeom>
          <a:noFill/>
          <a:ln/>
        </p:spPr>
        <p:txBody>
          <a:bodyPr wrap="square" rtlCol="0" anchor="ctr"/>
          <a:lstStyle/>
          <a:p>
            <a:pPr indent="0" marL="0">
              <a:buNone/>
            </a:pPr>
            <a:r>
              <a:rPr lang="en-US" sz="1200" b="1" dirty="0">
                <a:solidFill>
                  <a:srgbClr val="7C3A00"/>
                </a:solidFill>
                <a:latin typeface="Calibri" pitchFamily="34" charset="0"/>
                <a:ea typeface="Calibri" pitchFamily="34" charset="-122"/>
                <a:cs typeface="Calibri" pitchFamily="34" charset="-120"/>
              </a:rPr>
              <a:t>⚠️ Note</a:t>
            </a:r>
            <a:endParaRPr lang="en-US" sz="1200" dirty="0"/>
          </a:p>
        </p:txBody>
      </p:sp>
      <p:sp>
        <p:nvSpPr>
          <p:cNvPr id="6" name="Shape 3"/>
          <p:cNvSpPr/>
          <p:nvPr/>
        </p:nvSpPr>
        <p:spPr>
          <a:xfrm>
            <a:off x="5852160" y="1188720"/>
            <a:ext cx="2926080" cy="822960"/>
          </a:xfrm>
          <a:prstGeom prst="rect">
            <a:avLst/>
          </a:prstGeom>
          <a:solidFill>
            <a:srgbClr val="FFF3E0"/>
          </a:solidFill>
          <a:ln w="12700">
            <a:solidFill>
              <a:srgbClr val="F4A261"/>
            </a:solidFill>
            <a:prstDash val="solid"/>
          </a:ln>
        </p:spPr>
      </p:sp>
      <p:sp>
        <p:nvSpPr>
          <p:cNvPr id="7" name="Text 4"/>
          <p:cNvSpPr/>
          <p:nvPr/>
        </p:nvSpPr>
        <p:spPr>
          <a:xfrm>
            <a:off x="5943600" y="1234440"/>
            <a:ext cx="2743200" cy="731520"/>
          </a:xfrm>
          <a:prstGeom prst="rect">
            <a:avLst/>
          </a:prstGeom>
          <a:noFill/>
          <a:ln/>
        </p:spPr>
        <p:txBody>
          <a:bodyPr wrap="square" rtlCol="0" anchor="ctr"/>
          <a:lstStyle/>
          <a:p>
            <a:pPr indent="0" marL="0">
              <a:buNone/>
            </a:pPr>
            <a:r>
              <a:rPr lang="en-US" sz="1000" dirty="0">
                <a:solidFill>
                  <a:srgbClr val="7C4A00"/>
                </a:solidFill>
                <a:latin typeface="Calibri" pitchFamily="34" charset="0"/>
                <a:ea typeface="Calibri" pitchFamily="34" charset="-122"/>
                <a:cs typeface="Calibri" pitchFamily="34" charset="-120"/>
              </a:rPr>
              <a:t>Sales Department overall: 20.6%</a:t>
            </a:r>
            <a:endParaRPr lang="en-US" sz="1000" dirty="0"/>
          </a:p>
          <a:p>
            <a:pPr indent="0" marL="0">
              <a:buNone/>
            </a:pPr>
            <a:r>
              <a:rPr lang="en-US" sz="1000" dirty="0">
                <a:solidFill>
                  <a:srgbClr val="7C4A00"/>
                </a:solidFill>
                <a:latin typeface="Calibri" pitchFamily="34" charset="0"/>
                <a:ea typeface="Calibri" pitchFamily="34" charset="-122"/>
                <a:cs typeface="Calibri" pitchFamily="34" charset="-120"/>
              </a:rPr>
              <a:t>Sales Representative role: 39.8%</a:t>
            </a:r>
            <a:endParaRPr lang="en-US" sz="1000" dirty="0"/>
          </a:p>
          <a:p>
            <a:pPr indent="0" marL="0">
              <a:buNone/>
            </a:pPr>
            <a:r>
              <a:rPr lang="en-US" sz="1000" dirty="0">
                <a:solidFill>
                  <a:srgbClr val="7C4A00"/>
                </a:solidFill>
                <a:latin typeface="Calibri" pitchFamily="34" charset="0"/>
                <a:ea typeface="Calibri" pitchFamily="34" charset="-122"/>
                <a:cs typeface="Calibri" pitchFamily="34" charset="-120"/>
              </a:rPr>
              <a:t>The fragility is role-specific, not dept-wide.</a:t>
            </a:r>
            <a:endParaRPr lang="en-US" sz="1000" dirty="0"/>
          </a:p>
        </p:txBody>
      </p:sp>
      <p:sp>
        <p:nvSpPr>
          <p:cNvPr id="8" name="Text 5"/>
          <p:cNvSpPr/>
          <p:nvPr/>
        </p:nvSpPr>
        <p:spPr>
          <a:xfrm>
            <a:off x="5852160" y="2148840"/>
            <a:ext cx="2926080" cy="2560320"/>
          </a:xfrm>
          <a:prstGeom prst="rect">
            <a:avLst/>
          </a:prstGeom>
          <a:noFill/>
          <a:ln/>
        </p:spPr>
        <p:txBody>
          <a:bodyPr wrap="square"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Self-Determination Theory (Deci &amp; Ryan, 1985):</a:t>
            </a:r>
            <a:endParaRPr lang="en-US" sz="1300" dirty="0"/>
          </a:p>
          <a:p>
            <a:pPr indent="0" marL="0">
              <a:buNone/>
            </a:pPr>
            <a:r>
              <a:rPr lang="en-US" sz="1300" dirty="0">
                <a:solidFill>
                  <a:srgbClr val="334155"/>
                </a:solidFill>
                <a:latin typeface="Calibri" pitchFamily="34" charset="0"/>
                <a:ea typeface="Calibri" pitchFamily="34" charset="-122"/>
                <a:cs typeface="Calibri" pitchFamily="34" charset="-120"/>
              </a:rPr>
              <a:t>Low autonomy + high accountability = Learned Helplessness (Seligman, 1972).</a:t>
            </a:r>
            <a:endParaRPr lang="en-US" sz="1300" dirty="0"/>
          </a:p>
          <a:p>
            <a:pPr indent="0" marL="0">
              <a:buNone/>
            </a:pPr>
            <a:endParaRPr lang="en-US" sz="1300" dirty="0"/>
          </a:p>
          <a:p>
            <a:pPr indent="0" marL="0">
              <a:buNone/>
            </a:pPr>
            <a:r>
              <a:rPr lang="en-US" sz="1300" b="1" dirty="0">
                <a:solidFill>
                  <a:srgbClr val="1E2761"/>
                </a:solidFill>
                <a:latin typeface="Calibri" pitchFamily="34" charset="0"/>
                <a:ea typeface="Calibri" pitchFamily="34" charset="-122"/>
                <a:cs typeface="Calibri" pitchFamily="34" charset="-120"/>
              </a:rPr>
              <a:t>Solution:</a:t>
            </a:r>
            <a:endParaRPr lang="en-US" sz="1300" dirty="0"/>
          </a:p>
          <a:p>
            <a:pPr indent="0" marL="0">
              <a:buNone/>
            </a:pPr>
            <a:r>
              <a:rPr lang="en-US" sz="1300" dirty="0">
                <a:solidFill>
                  <a:srgbClr val="334155"/>
                </a:solidFill>
                <a:latin typeface="Calibri" pitchFamily="34" charset="0"/>
                <a:ea typeface="Calibri" pitchFamily="34" charset="-122"/>
                <a:cs typeface="Calibri" pitchFamily="34" charset="-120"/>
              </a:rPr>
              <a:t>Role redesign, not just compensation adjustment.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Finding 4: The Manager Tenure Effect</a:t>
            </a:r>
            <a:endParaRPr lang="en-US" sz="2600" dirty="0"/>
          </a:p>
        </p:txBody>
      </p:sp>
      <p:sp>
        <p:nvSpPr>
          <p:cNvPr id="3" name="Shape 1"/>
          <p:cNvSpPr/>
          <p:nvPr/>
        </p:nvSpPr>
        <p:spPr>
          <a:xfrm>
            <a:off x="0" y="0"/>
            <a:ext cx="109728" cy="5143500"/>
          </a:xfrm>
          <a:prstGeom prst="rect">
            <a:avLst/>
          </a:prstGeom>
          <a:solidFill>
            <a:srgbClr val="1E2761"/>
          </a:solidFill>
          <a:ln w="12700">
            <a:solidFill>
              <a:srgbClr val="1E2761"/>
            </a:solidFill>
            <a:prstDash val="solid"/>
          </a:ln>
        </p:spPr>
      </p:sp>
      <p:graphicFrame>
        <p:nvGraphicFramePr>
          <p:cNvPr id="4" name="Chart 0" descr=""/>
          <p:cNvGraphicFramePr/>
          <p:nvPr/>
        </p:nvGraphicFramePr>
        <p:xfrm>
          <a:off x="365760" y="868680"/>
          <a:ext cx="5029200" cy="34747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577840" y="868680"/>
            <a:ext cx="3200400" cy="1097280"/>
          </a:xfrm>
          <a:prstGeom prst="rect">
            <a:avLst/>
          </a:prstGeom>
          <a:solidFill>
            <a:srgbClr val="F0F4FF"/>
          </a:solidFill>
          <a:ln w="12700">
            <a:solidFill>
              <a:srgbClr val="1E2761"/>
            </a:solidFill>
            <a:prstDash val="solid"/>
          </a:ln>
        </p:spPr>
      </p:sp>
      <p:sp>
        <p:nvSpPr>
          <p:cNvPr id="6" name="Text 3"/>
          <p:cNvSpPr/>
          <p:nvPr/>
        </p:nvSpPr>
        <p:spPr>
          <a:xfrm>
            <a:off x="5669280" y="914400"/>
            <a:ext cx="3017520" cy="548640"/>
          </a:xfrm>
          <a:prstGeom prst="rect">
            <a:avLst/>
          </a:prstGeom>
          <a:noFill/>
          <a:ln/>
        </p:spPr>
        <p:txBody>
          <a:bodyPr wrap="square" rtlCol="0" anchor="ctr"/>
          <a:lstStyle/>
          <a:p>
            <a:pPr indent="0" marL="0">
              <a:buNone/>
            </a:pPr>
            <a:r>
              <a:rPr lang="en-US" sz="3000" b="1" dirty="0">
                <a:solidFill>
                  <a:srgbClr val="E55B4D"/>
                </a:solidFill>
                <a:latin typeface="Calibri" pitchFamily="34" charset="0"/>
                <a:ea typeface="Calibri" pitchFamily="34" charset="-122"/>
                <a:cs typeface="Calibri" pitchFamily="34" charset="-120"/>
              </a:rPr>
              <a:t>32.3%</a:t>
            </a:r>
            <a:endParaRPr lang="en-US" sz="3000" dirty="0"/>
          </a:p>
        </p:txBody>
      </p:sp>
      <p:sp>
        <p:nvSpPr>
          <p:cNvPr id="7" name="Text 4"/>
          <p:cNvSpPr/>
          <p:nvPr/>
        </p:nvSpPr>
        <p:spPr>
          <a:xfrm>
            <a:off x="5669280" y="1371600"/>
            <a:ext cx="3017520" cy="320040"/>
          </a:xfrm>
          <a:prstGeom prst="rect">
            <a:avLst/>
          </a:prstGeom>
          <a:noFill/>
          <a:ln/>
        </p:spPr>
        <p:txBody>
          <a:bodyPr wrap="square" rtlCol="0" anchor="ctr"/>
          <a:lstStyle/>
          <a:p>
            <a:pPr indent="0" marL="0">
              <a:buNone/>
            </a:pPr>
            <a:r>
              <a:rPr lang="en-US" sz="1100" dirty="0">
                <a:solidFill>
                  <a:srgbClr val="1E2761"/>
                </a:solidFill>
                <a:latin typeface="Calibri" pitchFamily="34" charset="0"/>
                <a:ea typeface="Calibri" pitchFamily="34" charset="-122"/>
                <a:cs typeface="Calibri" pitchFamily="34" charset="-120"/>
              </a:rPr>
              <a:t>attrition in Year 0 with new manager</a:t>
            </a:r>
            <a:endParaRPr lang="en-US" sz="1100" dirty="0"/>
          </a:p>
        </p:txBody>
      </p:sp>
      <p:sp>
        <p:nvSpPr>
          <p:cNvPr id="8" name="Text 5"/>
          <p:cNvSpPr/>
          <p:nvPr/>
        </p:nvSpPr>
        <p:spPr>
          <a:xfrm>
            <a:off x="5577840" y="2103120"/>
            <a:ext cx="3200400" cy="2743200"/>
          </a:xfrm>
          <a:prstGeom prst="rect">
            <a:avLst/>
          </a:prstGeom>
          <a:noFill/>
          <a:ln/>
        </p:spPr>
        <p:txBody>
          <a:bodyPr wrap="square" rtlCol="0" anchor="t"/>
          <a:lstStyle/>
          <a:p>
            <a:pPr indent="0" marL="0">
              <a:buNone/>
            </a:pPr>
            <a:r>
              <a:rPr lang="en-US" sz="1300" b="1" dirty="0">
                <a:solidFill>
                  <a:srgbClr val="1E2761"/>
                </a:solidFill>
                <a:latin typeface="Calibri" pitchFamily="34" charset="0"/>
                <a:ea typeface="Calibri" pitchFamily="34" charset="-122"/>
                <a:cs typeface="Calibri" pitchFamily="34" charset="-120"/>
              </a:rPr>
              <a:t>Correlation YearsWithCurrManager:</a:t>
            </a:r>
            <a:endParaRPr lang="en-US" sz="1300" dirty="0"/>
          </a:p>
          <a:p>
            <a:pPr indent="0" marL="0">
              <a:buNone/>
            </a:pPr>
            <a:r>
              <a:rPr lang="en-US" sz="1300" dirty="0">
                <a:solidFill>
                  <a:srgbClr val="334155"/>
                </a:solidFill>
                <a:latin typeface="Calibri" pitchFamily="34" charset="0"/>
                <a:ea typeface="Calibri" pitchFamily="34" charset="-122"/>
                <a:cs typeface="Calibri" pitchFamily="34" charset="-120"/>
              </a:rPr>
              <a:t>−0.156 with attrition (same strength as MonthlyIncome)</a:t>
            </a:r>
            <a:endParaRPr lang="en-US" sz="1300" dirty="0"/>
          </a:p>
          <a:p>
            <a:pPr indent="0" marL="0">
              <a:buNone/>
            </a:pPr>
            <a:endParaRPr lang="en-US" sz="1300" dirty="0"/>
          </a:p>
          <a:p>
            <a:pPr indent="0" marL="0">
              <a:buNone/>
            </a:pPr>
            <a:r>
              <a:rPr lang="en-US" sz="1300" b="1" dirty="0">
                <a:solidFill>
                  <a:srgbClr val="1E2761"/>
                </a:solidFill>
                <a:latin typeface="Calibri" pitchFamily="34" charset="0"/>
                <a:ea typeface="Calibri" pitchFamily="34" charset="-122"/>
                <a:cs typeface="Calibri" pitchFamily="34" charset="-120"/>
              </a:rPr>
              <a:t>Job Embeddedness (Mitchell et al., 2001):</a:t>
            </a:r>
            <a:endParaRPr lang="en-US" sz="1300" dirty="0"/>
          </a:p>
          <a:p>
            <a:pPr indent="0" marL="0">
              <a:buNone/>
            </a:pPr>
            <a:r>
              <a:rPr lang="en-US" sz="1300" dirty="0">
                <a:solidFill>
                  <a:srgbClr val="334155"/>
                </a:solidFill>
                <a:latin typeface="Calibri" pitchFamily="34" charset="0"/>
                <a:ea typeface="Calibri" pitchFamily="34" charset="-122"/>
                <a:cs typeface="Calibri" pitchFamily="34" charset="-120"/>
              </a:rPr>
              <a:t>The manager relationship is a structural anchor. Without it, the psychological contract (Rousseau, 1989) remains fragile.</a:t>
            </a:r>
            <a:endParaRPr lang="en-US" sz="1300" dirty="0"/>
          </a:p>
          <a:p>
            <a:pPr indent="0" marL="0">
              <a:buNone/>
            </a:pPr>
            <a:endParaRPr lang="en-US" sz="1300" dirty="0"/>
          </a:p>
          <a:p>
            <a:pPr indent="0" marL="0">
              <a:buNone/>
            </a:pPr>
            <a:r>
              <a:rPr lang="en-US" sz="1300" b="1" dirty="0">
                <a:solidFill>
                  <a:srgbClr val="1E2761"/>
                </a:solidFill>
                <a:latin typeface="Calibri" pitchFamily="34" charset="0"/>
                <a:ea typeface="Calibri" pitchFamily="34" charset="-122"/>
                <a:cs typeface="Calibri" pitchFamily="34" charset="-120"/>
              </a:rPr>
              <a:t>Gallup (2015):</a:t>
            </a:r>
            <a:endParaRPr lang="en-US" sz="1300" dirty="0"/>
          </a:p>
          <a:p>
            <a:pPr indent="0" marL="0">
              <a:buNone/>
            </a:pPr>
            <a:r>
              <a:rPr lang="en-US" sz="1300" dirty="0">
                <a:solidFill>
                  <a:srgbClr val="334155"/>
                </a:solidFill>
                <a:latin typeface="Calibri" pitchFamily="34" charset="0"/>
                <a:ea typeface="Calibri" pitchFamily="34" charset="-122"/>
                <a:cs typeface="Calibri" pitchFamily="34" charset="-120"/>
              </a:rPr>
              <a:t>Managers account for ≥70% of variance in employee engagement scores.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Correlation Architecture: The Full Picture</a:t>
            </a:r>
            <a:endParaRPr lang="en-US" sz="2600" dirty="0"/>
          </a:p>
        </p:txBody>
      </p:sp>
      <p:sp>
        <p:nvSpPr>
          <p:cNvPr id="3" name="Shape 1"/>
          <p:cNvSpPr/>
          <p:nvPr/>
        </p:nvSpPr>
        <p:spPr>
          <a:xfrm>
            <a:off x="0" y="0"/>
            <a:ext cx="109728" cy="5143500"/>
          </a:xfrm>
          <a:prstGeom prst="rect">
            <a:avLst/>
          </a:prstGeom>
          <a:solidFill>
            <a:srgbClr val="1E2761"/>
          </a:solidFill>
          <a:ln w="12700">
            <a:solidFill>
              <a:srgbClr val="1E2761"/>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822960"/>
          <a:ext cx="8412480" cy="4114800"/>
        </p:xfrm>
        <a:graphic>
          <a:graphicData uri="http://schemas.openxmlformats.org/drawingml/2006/table">
            <a:tbl>
              <a:tblPr/>
              <a:tblGrid>
                <a:gridCol w="2560320"/>
                <a:gridCol w="1188720"/>
                <a:gridCol w="4663440"/>
              </a:tblGrid>
              <a:tr h="41148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Correlation</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Interpretation</a:t>
                      </a:r>
                      <a:endParaRPr lang="en-US" sz="11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r>
              <a:tr h="411480">
                <a:tc>
                  <a:txBody>
                    <a:bodyPr/>
                    <a:lstStyle/>
                    <a:p>
                      <a:pPr algn="l" indent="0" marL="0">
                        <a:buNone/>
                      </a:pPr>
                      <a:r>
                        <a:rPr lang="en-US" sz="1000" dirty="0">
                          <a:solidFill>
                            <a:srgbClr val="1E293B"/>
                          </a:solidFill>
                          <a:latin typeface="Calibri" pitchFamily="34" charset="0"/>
                          <a:ea typeface="Calibri" pitchFamily="34" charset="-122"/>
                          <a:cs typeface="Calibri" pitchFamily="34" charset="-120"/>
                        </a:rPr>
                        <a:t>TotalWorkingYears</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9488"/>
                          </a:solidFill>
                          <a:latin typeface="Calibri" pitchFamily="34" charset="0"/>
                          <a:ea typeface="Calibri" pitchFamily="34" charset="-122"/>
                          <a:cs typeface="Calibri" pitchFamily="34" charset="-120"/>
                        </a:rPr>
                        <a:t>−0.171</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93B"/>
                          </a:solidFill>
                          <a:latin typeface="Calibri" pitchFamily="34" charset="0"/>
                          <a:ea typeface="Calibri" pitchFamily="34" charset="-122"/>
                          <a:cs typeface="Calibri" pitchFamily="34" charset="-120"/>
                        </a:rPr>
                        <a:t>Experience = organizational embeddedness</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1480">
                <a:tc>
                  <a:txBody>
                    <a:bodyPr/>
                    <a:lstStyle/>
                    <a:p>
                      <a:pPr algn="l" indent="0" marL="0">
                        <a:buNone/>
                      </a:pPr>
                      <a:r>
                        <a:rPr lang="en-US" sz="1000" dirty="0">
                          <a:solidFill>
                            <a:srgbClr val="1E293B"/>
                          </a:solidFill>
                          <a:latin typeface="Calibri" pitchFamily="34" charset="0"/>
                          <a:ea typeface="Calibri" pitchFamily="34" charset="-122"/>
                          <a:cs typeface="Calibri" pitchFamily="34" charset="-120"/>
                        </a:rPr>
                        <a:t>JobLevel</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F"/>
                    </a:solidFill>
                  </a:tcPr>
                </a:tc>
                <a:tc>
                  <a:txBody>
                    <a:bodyPr/>
                    <a:lstStyle/>
                    <a:p>
                      <a:pPr algn="ctr" indent="0" marL="0">
                        <a:buNone/>
                      </a:pPr>
                      <a:r>
                        <a:rPr lang="en-US" sz="1000" dirty="0">
                          <a:solidFill>
                            <a:srgbClr val="0D9488"/>
                          </a:solidFill>
                          <a:latin typeface="Calibri" pitchFamily="34" charset="0"/>
                          <a:ea typeface="Calibri" pitchFamily="34" charset="-122"/>
                          <a:cs typeface="Calibri" pitchFamily="34" charset="-120"/>
                        </a:rPr>
                        <a:t>−0.169</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F"/>
                    </a:solidFill>
                  </a:tcPr>
                </a:tc>
                <a:tc>
                  <a:txBody>
                    <a:bodyPr/>
                    <a:lstStyle/>
                    <a:p>
                      <a:pPr algn="l" indent="0" marL="0">
                        <a:buNone/>
                      </a:pPr>
                      <a:r>
                        <a:rPr lang="en-US" sz="1000" dirty="0">
                          <a:solidFill>
                            <a:srgbClr val="1E293B"/>
                          </a:solidFill>
                          <a:latin typeface="Calibri" pitchFamily="34" charset="0"/>
                          <a:ea typeface="Calibri" pitchFamily="34" charset="-122"/>
                          <a:cs typeface="Calibri" pitchFamily="34" charset="-120"/>
                        </a:rPr>
                        <a:t>Seniority creates structural exit barriers</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F"/>
                    </a:solidFill>
                  </a:tcPr>
                </a:tc>
              </a:tr>
              <a:tr h="411480">
                <a:tc>
                  <a:txBody>
                    <a:bodyPr/>
                    <a:lstStyle/>
                    <a:p>
                      <a:pPr algn="l" indent="0" marL="0">
                        <a:buNone/>
                      </a:pPr>
                      <a:r>
                        <a:rPr lang="en-US" sz="1000" dirty="0">
                          <a:solidFill>
                            <a:srgbClr val="1E293B"/>
                          </a:solidFill>
                          <a:latin typeface="Calibri" pitchFamily="34" charset="0"/>
                          <a:ea typeface="Calibri" pitchFamily="34" charset="-122"/>
                          <a:cs typeface="Calibri" pitchFamily="34" charset="-120"/>
                        </a:rPr>
                        <a:t>YearsInCurrentRole</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9488"/>
                          </a:solidFill>
                          <a:latin typeface="Calibri" pitchFamily="34" charset="0"/>
                          <a:ea typeface="Calibri" pitchFamily="34" charset="-122"/>
                          <a:cs typeface="Calibri" pitchFamily="34" charset="-120"/>
                        </a:rPr>
                        <a:t>−0.161</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93B"/>
                          </a:solidFill>
                          <a:latin typeface="Calibri" pitchFamily="34" charset="0"/>
                          <a:ea typeface="Calibri" pitchFamily="34" charset="-122"/>
                          <a:cs typeface="Calibri" pitchFamily="34" charset="-120"/>
                        </a:rPr>
                        <a:t>Role stability anchors behavior</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1480">
                <a:tc>
                  <a:txBody>
                    <a:bodyPr/>
                    <a:lstStyle/>
                    <a:p>
                      <a:pPr algn="l" indent="0" marL="0">
                        <a:buNone/>
                      </a:pPr>
                      <a:r>
                        <a:rPr lang="en-US" sz="1000" dirty="0">
                          <a:solidFill>
                            <a:srgbClr val="1E293B"/>
                          </a:solidFill>
                          <a:latin typeface="Calibri" pitchFamily="34" charset="0"/>
                          <a:ea typeface="Calibri" pitchFamily="34" charset="-122"/>
                          <a:cs typeface="Calibri" pitchFamily="34" charset="-120"/>
                        </a:rPr>
                        <a:t>MonthlyIncome</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F"/>
                    </a:solidFill>
                  </a:tcPr>
                </a:tc>
                <a:tc>
                  <a:txBody>
                    <a:bodyPr/>
                    <a:lstStyle/>
                    <a:p>
                      <a:pPr algn="ctr" indent="0" marL="0">
                        <a:buNone/>
                      </a:pPr>
                      <a:r>
                        <a:rPr lang="en-US" sz="1000" dirty="0">
                          <a:solidFill>
                            <a:srgbClr val="0D9488"/>
                          </a:solidFill>
                          <a:latin typeface="Calibri" pitchFamily="34" charset="0"/>
                          <a:ea typeface="Calibri" pitchFamily="34" charset="-122"/>
                          <a:cs typeface="Calibri" pitchFamily="34" charset="-120"/>
                        </a:rPr>
                        <a:t>−0.160</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F"/>
                    </a:solidFill>
                  </a:tcPr>
                </a:tc>
                <a:tc>
                  <a:txBody>
                    <a:bodyPr/>
                    <a:lstStyle/>
                    <a:p>
                      <a:pPr algn="l" indent="0" marL="0">
                        <a:buNone/>
                      </a:pPr>
                      <a:r>
                        <a:rPr lang="en-US" sz="1000" dirty="0">
                          <a:solidFill>
                            <a:srgbClr val="1E293B"/>
                          </a:solidFill>
                          <a:latin typeface="Calibri" pitchFamily="34" charset="0"/>
                          <a:ea typeface="Calibri" pitchFamily="34" charset="-122"/>
                          <a:cs typeface="Calibri" pitchFamily="34" charset="-120"/>
                        </a:rPr>
                        <a:t>Hygiene factor at the lower end</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F"/>
                    </a:solidFill>
                  </a:tcPr>
                </a:tc>
              </a:tr>
              <a:tr h="411480">
                <a:tc>
                  <a:txBody>
                    <a:bodyPr/>
                    <a:lstStyle/>
                    <a:p>
                      <a:pPr algn="l" indent="0" marL="0">
                        <a:buNone/>
                      </a:pPr>
                      <a:r>
                        <a:rPr lang="en-US" sz="1000" dirty="0">
                          <a:solidFill>
                            <a:srgbClr val="1E293B"/>
                          </a:solidFill>
                          <a:latin typeface="Calibri" pitchFamily="34" charset="0"/>
                          <a:ea typeface="Calibri" pitchFamily="34" charset="-122"/>
                          <a:cs typeface="Calibri" pitchFamily="34" charset="-120"/>
                        </a:rPr>
                        <a:t>YearsWithCurrManager</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9488"/>
                          </a:solidFill>
                          <a:latin typeface="Calibri" pitchFamily="34" charset="0"/>
                          <a:ea typeface="Calibri" pitchFamily="34" charset="-122"/>
                          <a:cs typeface="Calibri" pitchFamily="34" charset="-120"/>
                        </a:rPr>
                        <a:t>−0.156</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93B"/>
                          </a:solidFill>
                          <a:latin typeface="Calibri" pitchFamily="34" charset="0"/>
                          <a:ea typeface="Calibri" pitchFamily="34" charset="-122"/>
                          <a:cs typeface="Calibri" pitchFamily="34" charset="-120"/>
                        </a:rPr>
                        <a:t>Manager relationship is a retention mechanism</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1480">
                <a:tc>
                  <a:txBody>
                    <a:bodyPr/>
                    <a:lstStyle/>
                    <a:p>
                      <a:pPr algn="l" indent="0" marL="0">
                        <a:buNone/>
                      </a:pPr>
                      <a:r>
                        <a:rPr lang="en-US" sz="1000" dirty="0">
                          <a:solidFill>
                            <a:srgbClr val="1E293B"/>
                          </a:solidFill>
                          <a:latin typeface="Calibri" pitchFamily="34" charset="0"/>
                          <a:ea typeface="Calibri" pitchFamily="34" charset="-122"/>
                          <a:cs typeface="Calibri" pitchFamily="34" charset="-120"/>
                        </a:rPr>
                        <a:t>Age</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F"/>
                    </a:solidFill>
                  </a:tcPr>
                </a:tc>
                <a:tc>
                  <a:txBody>
                    <a:bodyPr/>
                    <a:lstStyle/>
                    <a:p>
                      <a:pPr algn="ctr" indent="0" marL="0">
                        <a:buNone/>
                      </a:pPr>
                      <a:r>
                        <a:rPr lang="en-US" sz="1000" dirty="0">
                          <a:solidFill>
                            <a:srgbClr val="0D9488"/>
                          </a:solidFill>
                          <a:latin typeface="Calibri" pitchFamily="34" charset="0"/>
                          <a:ea typeface="Calibri" pitchFamily="34" charset="-122"/>
                          <a:cs typeface="Calibri" pitchFamily="34" charset="-120"/>
                        </a:rPr>
                        <a:t>−0.159</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F"/>
                    </a:solidFill>
                  </a:tcPr>
                </a:tc>
                <a:tc>
                  <a:txBody>
                    <a:bodyPr/>
                    <a:lstStyle/>
                    <a:p>
                      <a:pPr algn="l" indent="0" marL="0">
                        <a:buNone/>
                      </a:pPr>
                      <a:r>
                        <a:rPr lang="en-US" sz="1000" dirty="0">
                          <a:solidFill>
                            <a:srgbClr val="1E293B"/>
                          </a:solidFill>
                          <a:latin typeface="Calibri" pitchFamily="34" charset="0"/>
                          <a:ea typeface="Calibri" pitchFamily="34" charset="-122"/>
                          <a:cs typeface="Calibri" pitchFamily="34" charset="-120"/>
                        </a:rPr>
                        <a:t>Younger employees carry lower switching costs</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F"/>
                    </a:solidFill>
                  </a:tcPr>
                </a:tc>
              </a:tr>
              <a:tr h="411480">
                <a:tc>
                  <a:txBody>
                    <a:bodyPr/>
                    <a:lstStyle/>
                    <a:p>
                      <a:pPr algn="l" indent="0" marL="0">
                        <a:buNone/>
                      </a:pPr>
                      <a:r>
                        <a:rPr lang="en-US" sz="1000" dirty="0">
                          <a:solidFill>
                            <a:srgbClr val="1E293B"/>
                          </a:solidFill>
                          <a:latin typeface="Calibri" pitchFamily="34" charset="0"/>
                          <a:ea typeface="Calibri" pitchFamily="34" charset="-122"/>
                          <a:cs typeface="Calibri" pitchFamily="34" charset="-120"/>
                        </a:rPr>
                        <a:t>StockOptionLevel</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D9488"/>
                          </a:solidFill>
                          <a:latin typeface="Calibri" pitchFamily="34" charset="0"/>
                          <a:ea typeface="Calibri" pitchFamily="34" charset="-122"/>
                          <a:cs typeface="Calibri" pitchFamily="34" charset="-120"/>
                        </a:rPr>
                        <a:t>−0.137</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93B"/>
                          </a:solidFill>
                          <a:latin typeface="Calibri" pitchFamily="34" charset="0"/>
                          <a:ea typeface="Calibri" pitchFamily="34" charset="-122"/>
                          <a:cs typeface="Calibri" pitchFamily="34" charset="-120"/>
                        </a:rPr>
                        <a:t>Equity = psychological ownership</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1480">
                <a:tc>
                  <a:txBody>
                    <a:bodyPr/>
                    <a:lstStyle/>
                    <a:p>
                      <a:pPr algn="l" indent="0" marL="0">
                        <a:buNone/>
                      </a:pPr>
                      <a:r>
                        <a:rPr lang="en-US" sz="1000" dirty="0">
                          <a:solidFill>
                            <a:srgbClr val="1E293B"/>
                          </a:solidFill>
                          <a:latin typeface="Calibri" pitchFamily="34" charset="0"/>
                          <a:ea typeface="Calibri" pitchFamily="34" charset="-122"/>
                          <a:cs typeface="Calibri" pitchFamily="34" charset="-120"/>
                        </a:rPr>
                        <a:t>JobInvolvement</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F"/>
                    </a:solidFill>
                  </a:tcPr>
                </a:tc>
                <a:tc>
                  <a:txBody>
                    <a:bodyPr/>
                    <a:lstStyle/>
                    <a:p>
                      <a:pPr algn="ctr" indent="0" marL="0">
                        <a:buNone/>
                      </a:pPr>
                      <a:r>
                        <a:rPr lang="en-US" sz="1000" dirty="0">
                          <a:solidFill>
                            <a:srgbClr val="0D9488"/>
                          </a:solidFill>
                          <a:latin typeface="Calibri" pitchFamily="34" charset="0"/>
                          <a:ea typeface="Calibri" pitchFamily="34" charset="-122"/>
                          <a:cs typeface="Calibri" pitchFamily="34" charset="-120"/>
                        </a:rPr>
                        <a:t>−0.130</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F"/>
                    </a:solidFill>
                  </a:tcPr>
                </a:tc>
                <a:tc>
                  <a:txBody>
                    <a:bodyPr/>
                    <a:lstStyle/>
                    <a:p>
                      <a:pPr algn="l" indent="0" marL="0">
                        <a:buNone/>
                      </a:pPr>
                      <a:r>
                        <a:rPr lang="en-US" sz="1000" dirty="0">
                          <a:solidFill>
                            <a:srgbClr val="1E293B"/>
                          </a:solidFill>
                          <a:latin typeface="Calibri" pitchFamily="34" charset="0"/>
                          <a:ea typeface="Calibri" pitchFamily="34" charset="-122"/>
                          <a:cs typeface="Calibri" pitchFamily="34" charset="-120"/>
                        </a:rPr>
                        <a:t>Engagement reduces exit intent</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0F4FF"/>
                    </a:solidFill>
                  </a:tcPr>
                </a:tc>
              </a:tr>
              <a:tr h="411480">
                <a:tc>
                  <a:txBody>
                    <a:bodyPr/>
                    <a:lstStyle/>
                    <a:p>
                      <a:pPr algn="l" indent="0" marL="0">
                        <a:buNone/>
                      </a:pPr>
                      <a:r>
                        <a:rPr lang="en-US" sz="1000" dirty="0">
                          <a:solidFill>
                            <a:srgbClr val="1E293B"/>
                          </a:solidFill>
                          <a:latin typeface="Calibri" pitchFamily="34" charset="0"/>
                          <a:ea typeface="Calibri" pitchFamily="34" charset="-122"/>
                          <a:cs typeface="Calibri" pitchFamily="34" charset="-120"/>
                        </a:rPr>
                        <a:t>DistanceFromHome</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55B4D"/>
                          </a:solidFill>
                          <a:latin typeface="Calibri" pitchFamily="34" charset="0"/>
                          <a:ea typeface="Calibri" pitchFamily="34" charset="-122"/>
                          <a:cs typeface="Calibri" pitchFamily="34" charset="-120"/>
                        </a:rPr>
                        <a:t>+0.078</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E293B"/>
                          </a:solidFill>
                          <a:latin typeface="Calibri" pitchFamily="34" charset="0"/>
                          <a:ea typeface="Calibri" pitchFamily="34" charset="-122"/>
                          <a:cs typeface="Calibri" pitchFamily="34" charset="-120"/>
                        </a:rPr>
                        <a:t>Commute friction is a push factor</a:t>
                      </a:r>
                      <a:endParaRPr lang="en-US" sz="10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182880"/>
            <a:ext cx="8229600" cy="5486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Strategic Framework: E.R.A. Roadmap</a:t>
            </a:r>
            <a:endParaRPr lang="en-US" sz="2600" dirty="0"/>
          </a:p>
        </p:txBody>
      </p:sp>
      <p:sp>
        <p:nvSpPr>
          <p:cNvPr id="3" name="Text 1"/>
          <p:cNvSpPr/>
          <p:nvPr/>
        </p:nvSpPr>
        <p:spPr>
          <a:xfrm>
            <a:off x="457200" y="685800"/>
            <a:ext cx="8229600" cy="320040"/>
          </a:xfrm>
          <a:prstGeom prst="rect">
            <a:avLst/>
          </a:prstGeom>
          <a:noFill/>
          <a:ln/>
        </p:spPr>
        <p:txBody>
          <a:bodyPr wrap="square"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Three evidence-based interventions — ordered by implementation urgency</a:t>
            </a:r>
            <a:endParaRPr lang="en-US" sz="1200" dirty="0"/>
          </a:p>
        </p:txBody>
      </p:sp>
      <p:sp>
        <p:nvSpPr>
          <p:cNvPr id="4" name="Shape 2"/>
          <p:cNvSpPr/>
          <p:nvPr/>
        </p:nvSpPr>
        <p:spPr>
          <a:xfrm>
            <a:off x="274320" y="1143000"/>
            <a:ext cx="2697480" cy="3657600"/>
          </a:xfrm>
          <a:prstGeom prst="rect">
            <a:avLst/>
          </a:prstGeom>
          <a:solidFill>
            <a:srgbClr val="253680"/>
          </a:solidFill>
          <a:ln w="12700">
            <a:solidFill>
              <a:srgbClr val="3D4F9E"/>
            </a:solidFill>
            <a:prstDash val="solid"/>
          </a:ln>
        </p:spPr>
      </p:sp>
      <p:sp>
        <p:nvSpPr>
          <p:cNvPr id="5" name="Shape 3"/>
          <p:cNvSpPr/>
          <p:nvPr/>
        </p:nvSpPr>
        <p:spPr>
          <a:xfrm>
            <a:off x="274320" y="1143000"/>
            <a:ext cx="2697480" cy="594360"/>
          </a:xfrm>
          <a:prstGeom prst="rect">
            <a:avLst/>
          </a:prstGeom>
          <a:solidFill>
            <a:srgbClr val="F4A261"/>
          </a:solidFill>
          <a:ln w="12700">
            <a:solidFill>
              <a:srgbClr val="F4A261"/>
            </a:solidFill>
            <a:prstDash val="solid"/>
          </a:ln>
        </p:spPr>
      </p:sp>
      <p:sp>
        <p:nvSpPr>
          <p:cNvPr id="6" name="Text 4"/>
          <p:cNvSpPr/>
          <p:nvPr/>
        </p:nvSpPr>
        <p:spPr>
          <a:xfrm>
            <a:off x="365760" y="1170432"/>
            <a:ext cx="2514600" cy="502920"/>
          </a:xfrm>
          <a:prstGeom prst="rect">
            <a:avLst/>
          </a:prstGeom>
          <a:noFill/>
          <a:ln/>
        </p:spPr>
        <p:txBody>
          <a:bodyPr wrap="square"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E — EQUITY</a:t>
            </a:r>
            <a:endParaRPr lang="en-US" sz="1400" dirty="0"/>
          </a:p>
        </p:txBody>
      </p:sp>
      <p:sp>
        <p:nvSpPr>
          <p:cNvPr id="7" name="Text 5"/>
          <p:cNvSpPr/>
          <p:nvPr/>
        </p:nvSpPr>
        <p:spPr>
          <a:xfrm>
            <a:off x="384048" y="1874520"/>
            <a:ext cx="2468880" cy="274320"/>
          </a:xfrm>
          <a:prstGeom prst="rect">
            <a:avLst/>
          </a:prstGeom>
          <a:noFill/>
          <a:ln/>
        </p:spPr>
        <p:txBody>
          <a:bodyPr wrap="square" rtlCol="0" anchor="ctr"/>
          <a:lstStyle/>
          <a:p>
            <a:pPr indent="0" marL="0">
              <a:buNone/>
            </a:pPr>
            <a:r>
              <a:rPr lang="en-US" sz="1000" b="1" dirty="0">
                <a:solidFill>
                  <a:srgbClr val="CADCFC"/>
                </a:solidFill>
                <a:latin typeface="Calibri" pitchFamily="34" charset="0"/>
                <a:ea typeface="Calibri" pitchFamily="34" charset="-122"/>
                <a:cs typeface="Calibri" pitchFamily="34" charset="-120"/>
              </a:rPr>
              <a:t>Issue:</a:t>
            </a:r>
            <a:endParaRPr lang="en-US" sz="1000" dirty="0"/>
          </a:p>
        </p:txBody>
      </p:sp>
      <p:sp>
        <p:nvSpPr>
          <p:cNvPr id="8" name="Text 6"/>
          <p:cNvSpPr/>
          <p:nvPr/>
        </p:nvSpPr>
        <p:spPr>
          <a:xfrm>
            <a:off x="384048" y="2121408"/>
            <a:ext cx="2468880" cy="77724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Roles below $3,000/month are in Herzberg's dissatisfaction trap</a:t>
            </a:r>
            <a:endParaRPr lang="en-US" sz="1000" dirty="0"/>
          </a:p>
        </p:txBody>
      </p:sp>
      <p:sp>
        <p:nvSpPr>
          <p:cNvPr id="9" name="Text 7"/>
          <p:cNvSpPr/>
          <p:nvPr/>
        </p:nvSpPr>
        <p:spPr>
          <a:xfrm>
            <a:off x="384048" y="2944368"/>
            <a:ext cx="2468880" cy="274320"/>
          </a:xfrm>
          <a:prstGeom prst="rect">
            <a:avLst/>
          </a:prstGeom>
          <a:noFill/>
          <a:ln/>
        </p:spPr>
        <p:txBody>
          <a:bodyPr wrap="square" rtlCol="0" anchor="ctr"/>
          <a:lstStyle/>
          <a:p>
            <a:pPr indent="0" marL="0">
              <a:buNone/>
            </a:pPr>
            <a:r>
              <a:rPr lang="en-US" sz="1000" b="1" dirty="0">
                <a:solidFill>
                  <a:srgbClr val="CADCFC"/>
                </a:solidFill>
                <a:latin typeface="Calibri" pitchFamily="34" charset="0"/>
                <a:ea typeface="Calibri" pitchFamily="34" charset="-122"/>
                <a:cs typeface="Calibri" pitchFamily="34" charset="-120"/>
              </a:rPr>
              <a:t>Intervention:</a:t>
            </a:r>
            <a:endParaRPr lang="en-US" sz="1000" dirty="0"/>
          </a:p>
        </p:txBody>
      </p:sp>
      <p:sp>
        <p:nvSpPr>
          <p:cNvPr id="10" name="Text 8"/>
          <p:cNvSpPr/>
          <p:nvPr/>
        </p:nvSpPr>
        <p:spPr>
          <a:xfrm>
            <a:off x="384048" y="3182112"/>
            <a:ext cx="2468880" cy="77724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Targeted salary audit for bottom two quartiles in high-attrition roles. Bridge to $3,000–$3,500 range.</a:t>
            </a:r>
            <a:endParaRPr lang="en-US" sz="1000" dirty="0"/>
          </a:p>
        </p:txBody>
      </p:sp>
      <p:sp>
        <p:nvSpPr>
          <p:cNvPr id="11" name="Text 9"/>
          <p:cNvSpPr/>
          <p:nvPr/>
        </p:nvSpPr>
        <p:spPr>
          <a:xfrm>
            <a:off x="384048" y="4005072"/>
            <a:ext cx="2468880" cy="228600"/>
          </a:xfrm>
          <a:prstGeom prst="rect">
            <a:avLst/>
          </a:prstGeom>
          <a:noFill/>
          <a:ln/>
        </p:spPr>
        <p:txBody>
          <a:bodyPr wrap="square" rtlCol="0" anchor="ctr"/>
          <a:lstStyle/>
          <a:p>
            <a:pPr indent="0" marL="0">
              <a:buNone/>
            </a:pPr>
            <a:r>
              <a:rPr lang="en-US" sz="900" b="1" dirty="0">
                <a:solidFill>
                  <a:srgbClr val="F4A261"/>
                </a:solidFill>
                <a:latin typeface="Calibri" pitchFamily="34" charset="0"/>
                <a:ea typeface="Calibri" pitchFamily="34" charset="-122"/>
                <a:cs typeface="Calibri" pitchFamily="34" charset="-120"/>
              </a:rPr>
              <a:t>Why it works:</a:t>
            </a:r>
            <a:endParaRPr lang="en-US" sz="900" dirty="0"/>
          </a:p>
        </p:txBody>
      </p:sp>
      <p:sp>
        <p:nvSpPr>
          <p:cNvPr id="12" name="Text 10"/>
          <p:cNvSpPr/>
          <p:nvPr/>
        </p:nvSpPr>
        <p:spPr>
          <a:xfrm>
            <a:off x="384048" y="4206240"/>
            <a:ext cx="2468880" cy="411480"/>
          </a:xfrm>
          <a:prstGeom prst="rect">
            <a:avLst/>
          </a:prstGeom>
          <a:noFill/>
          <a:ln/>
        </p:spPr>
        <p:txBody>
          <a:bodyPr wrap="square" rtlCol="0" anchor="t"/>
          <a:lstStyle/>
          <a:p>
            <a:pPr indent="0" marL="0">
              <a:buNone/>
            </a:pPr>
            <a:r>
              <a:rPr lang="en-US" sz="900" dirty="0">
                <a:solidFill>
                  <a:srgbClr val="CADCFC"/>
                </a:solidFill>
                <a:latin typeface="Calibri" pitchFamily="34" charset="0"/>
                <a:ea typeface="Calibri" pitchFamily="34" charset="-122"/>
                <a:cs typeface="Calibri" pitchFamily="34" charset="-120"/>
              </a:rPr>
              <a:t>Below the hygiene threshold, no other retention lever works.</a:t>
            </a:r>
            <a:endParaRPr lang="en-US" sz="900" dirty="0"/>
          </a:p>
        </p:txBody>
      </p:sp>
      <p:sp>
        <p:nvSpPr>
          <p:cNvPr id="13" name="Shape 11"/>
          <p:cNvSpPr/>
          <p:nvPr/>
        </p:nvSpPr>
        <p:spPr>
          <a:xfrm>
            <a:off x="3154680" y="1143000"/>
            <a:ext cx="2697480" cy="3657600"/>
          </a:xfrm>
          <a:prstGeom prst="rect">
            <a:avLst/>
          </a:prstGeom>
          <a:solidFill>
            <a:srgbClr val="253680"/>
          </a:solidFill>
          <a:ln w="12700">
            <a:solidFill>
              <a:srgbClr val="3D4F9E"/>
            </a:solidFill>
            <a:prstDash val="solid"/>
          </a:ln>
        </p:spPr>
      </p:sp>
      <p:sp>
        <p:nvSpPr>
          <p:cNvPr id="14" name="Shape 12"/>
          <p:cNvSpPr/>
          <p:nvPr/>
        </p:nvSpPr>
        <p:spPr>
          <a:xfrm>
            <a:off x="3154680" y="1143000"/>
            <a:ext cx="2697480" cy="594360"/>
          </a:xfrm>
          <a:prstGeom prst="rect">
            <a:avLst/>
          </a:prstGeom>
          <a:solidFill>
            <a:srgbClr val="F4A261"/>
          </a:solidFill>
          <a:ln w="12700">
            <a:solidFill>
              <a:srgbClr val="F4A261"/>
            </a:solidFill>
            <a:prstDash val="solid"/>
          </a:ln>
        </p:spPr>
      </p:sp>
      <p:sp>
        <p:nvSpPr>
          <p:cNvPr id="15" name="Text 13"/>
          <p:cNvSpPr/>
          <p:nvPr/>
        </p:nvSpPr>
        <p:spPr>
          <a:xfrm>
            <a:off x="3246120" y="1170432"/>
            <a:ext cx="2514600" cy="502920"/>
          </a:xfrm>
          <a:prstGeom prst="rect">
            <a:avLst/>
          </a:prstGeom>
          <a:noFill/>
          <a:ln/>
        </p:spPr>
        <p:txBody>
          <a:bodyPr wrap="square"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R — REWARD</a:t>
            </a:r>
            <a:endParaRPr lang="en-US" sz="1400" dirty="0"/>
          </a:p>
        </p:txBody>
      </p:sp>
      <p:sp>
        <p:nvSpPr>
          <p:cNvPr id="16" name="Text 14"/>
          <p:cNvSpPr/>
          <p:nvPr/>
        </p:nvSpPr>
        <p:spPr>
          <a:xfrm>
            <a:off x="3264408" y="1874520"/>
            <a:ext cx="2468880" cy="274320"/>
          </a:xfrm>
          <a:prstGeom prst="rect">
            <a:avLst/>
          </a:prstGeom>
          <a:noFill/>
          <a:ln/>
        </p:spPr>
        <p:txBody>
          <a:bodyPr wrap="square" rtlCol="0" anchor="ctr"/>
          <a:lstStyle/>
          <a:p>
            <a:pPr indent="0" marL="0">
              <a:buNone/>
            </a:pPr>
            <a:r>
              <a:rPr lang="en-US" sz="1000" b="1" dirty="0">
                <a:solidFill>
                  <a:srgbClr val="CADCFC"/>
                </a:solidFill>
                <a:latin typeface="Calibri" pitchFamily="34" charset="0"/>
                <a:ea typeface="Calibri" pitchFamily="34" charset="-122"/>
                <a:cs typeface="Calibri" pitchFamily="34" charset="-120"/>
              </a:rPr>
              <a:t>Issue:</a:t>
            </a:r>
            <a:endParaRPr lang="en-US" sz="1000" dirty="0"/>
          </a:p>
        </p:txBody>
      </p:sp>
      <p:sp>
        <p:nvSpPr>
          <p:cNvPr id="17" name="Text 15"/>
          <p:cNvSpPr/>
          <p:nvPr/>
        </p:nvSpPr>
        <p:spPr>
          <a:xfrm>
            <a:off x="3264408" y="2121408"/>
            <a:ext cx="2468880" cy="77724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Zero stock options → 24.4% attrition. Level 1+ → below 10%</a:t>
            </a:r>
            <a:endParaRPr lang="en-US" sz="1000" dirty="0"/>
          </a:p>
        </p:txBody>
      </p:sp>
      <p:sp>
        <p:nvSpPr>
          <p:cNvPr id="18" name="Text 16"/>
          <p:cNvSpPr/>
          <p:nvPr/>
        </p:nvSpPr>
        <p:spPr>
          <a:xfrm>
            <a:off x="3264408" y="2944368"/>
            <a:ext cx="2468880" cy="274320"/>
          </a:xfrm>
          <a:prstGeom prst="rect">
            <a:avLst/>
          </a:prstGeom>
          <a:noFill/>
          <a:ln/>
        </p:spPr>
        <p:txBody>
          <a:bodyPr wrap="square" rtlCol="0" anchor="ctr"/>
          <a:lstStyle/>
          <a:p>
            <a:pPr indent="0" marL="0">
              <a:buNone/>
            </a:pPr>
            <a:r>
              <a:rPr lang="en-US" sz="1000" b="1" dirty="0">
                <a:solidFill>
                  <a:srgbClr val="CADCFC"/>
                </a:solidFill>
                <a:latin typeface="Calibri" pitchFamily="34" charset="0"/>
                <a:ea typeface="Calibri" pitchFamily="34" charset="-122"/>
                <a:cs typeface="Calibri" pitchFamily="34" charset="-120"/>
              </a:rPr>
              <a:t>Intervention:</a:t>
            </a:r>
            <a:endParaRPr lang="en-US" sz="1000" dirty="0"/>
          </a:p>
        </p:txBody>
      </p:sp>
      <p:sp>
        <p:nvSpPr>
          <p:cNvPr id="19" name="Text 17"/>
          <p:cNvSpPr/>
          <p:nvPr/>
        </p:nvSpPr>
        <p:spPr>
          <a:xfrm>
            <a:off x="3264408" y="3182112"/>
            <a:ext cx="2468880" cy="77724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Mid-Level Equity Grant for high-potential employees in first two years of tenure.</a:t>
            </a:r>
            <a:endParaRPr lang="en-US" sz="1000" dirty="0"/>
          </a:p>
        </p:txBody>
      </p:sp>
      <p:sp>
        <p:nvSpPr>
          <p:cNvPr id="20" name="Text 18"/>
          <p:cNvSpPr/>
          <p:nvPr/>
        </p:nvSpPr>
        <p:spPr>
          <a:xfrm>
            <a:off x="3264408" y="4005072"/>
            <a:ext cx="2468880" cy="228600"/>
          </a:xfrm>
          <a:prstGeom prst="rect">
            <a:avLst/>
          </a:prstGeom>
          <a:noFill/>
          <a:ln/>
        </p:spPr>
        <p:txBody>
          <a:bodyPr wrap="square" rtlCol="0" anchor="ctr"/>
          <a:lstStyle/>
          <a:p>
            <a:pPr indent="0" marL="0">
              <a:buNone/>
            </a:pPr>
            <a:r>
              <a:rPr lang="en-US" sz="900" b="1" dirty="0">
                <a:solidFill>
                  <a:srgbClr val="F4A261"/>
                </a:solidFill>
                <a:latin typeface="Calibri" pitchFamily="34" charset="0"/>
                <a:ea typeface="Calibri" pitchFamily="34" charset="-122"/>
                <a:cs typeface="Calibri" pitchFamily="34" charset="-120"/>
              </a:rPr>
              <a:t>Why it works:</a:t>
            </a:r>
            <a:endParaRPr lang="en-US" sz="900" dirty="0"/>
          </a:p>
        </p:txBody>
      </p:sp>
      <p:sp>
        <p:nvSpPr>
          <p:cNvPr id="21" name="Text 19"/>
          <p:cNvSpPr/>
          <p:nvPr/>
        </p:nvSpPr>
        <p:spPr>
          <a:xfrm>
            <a:off x="3264408" y="4206240"/>
            <a:ext cx="2468880" cy="411480"/>
          </a:xfrm>
          <a:prstGeom prst="rect">
            <a:avLst/>
          </a:prstGeom>
          <a:noFill/>
          <a:ln/>
        </p:spPr>
        <p:txBody>
          <a:bodyPr wrap="square" rtlCol="0" anchor="t"/>
          <a:lstStyle/>
          <a:p>
            <a:pPr indent="0" marL="0">
              <a:buNone/>
            </a:pPr>
            <a:r>
              <a:rPr lang="en-US" sz="900" dirty="0">
                <a:solidFill>
                  <a:srgbClr val="CADCFC"/>
                </a:solidFill>
                <a:latin typeface="Calibri" pitchFamily="34" charset="0"/>
                <a:ea typeface="Calibri" pitchFamily="34" charset="-122"/>
                <a:cs typeface="Calibri" pitchFamily="34" charset="-120"/>
              </a:rPr>
              <a:t>Equity shifts employee time horizon — increases switching cost without recurring salary expense.</a:t>
            </a:r>
            <a:endParaRPr lang="en-US" sz="900" dirty="0"/>
          </a:p>
        </p:txBody>
      </p:sp>
      <p:sp>
        <p:nvSpPr>
          <p:cNvPr id="22" name="Shape 20"/>
          <p:cNvSpPr/>
          <p:nvPr/>
        </p:nvSpPr>
        <p:spPr>
          <a:xfrm>
            <a:off x="6035040" y="1143000"/>
            <a:ext cx="2697480" cy="3657600"/>
          </a:xfrm>
          <a:prstGeom prst="rect">
            <a:avLst/>
          </a:prstGeom>
          <a:solidFill>
            <a:srgbClr val="253680"/>
          </a:solidFill>
          <a:ln w="12700">
            <a:solidFill>
              <a:srgbClr val="3D4F9E"/>
            </a:solidFill>
            <a:prstDash val="solid"/>
          </a:ln>
        </p:spPr>
      </p:sp>
      <p:sp>
        <p:nvSpPr>
          <p:cNvPr id="23" name="Shape 21"/>
          <p:cNvSpPr/>
          <p:nvPr/>
        </p:nvSpPr>
        <p:spPr>
          <a:xfrm>
            <a:off x="6035040" y="1143000"/>
            <a:ext cx="2697480" cy="594360"/>
          </a:xfrm>
          <a:prstGeom prst="rect">
            <a:avLst/>
          </a:prstGeom>
          <a:solidFill>
            <a:srgbClr val="F4A261"/>
          </a:solidFill>
          <a:ln w="12700">
            <a:solidFill>
              <a:srgbClr val="F4A261"/>
            </a:solidFill>
            <a:prstDash val="solid"/>
          </a:ln>
        </p:spPr>
      </p:sp>
      <p:sp>
        <p:nvSpPr>
          <p:cNvPr id="24" name="Text 22"/>
          <p:cNvSpPr/>
          <p:nvPr/>
        </p:nvSpPr>
        <p:spPr>
          <a:xfrm>
            <a:off x="6126480" y="1170432"/>
            <a:ext cx="2514600" cy="502920"/>
          </a:xfrm>
          <a:prstGeom prst="rect">
            <a:avLst/>
          </a:prstGeom>
          <a:noFill/>
          <a:ln/>
        </p:spPr>
        <p:txBody>
          <a:bodyPr wrap="square"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A — AUTONOMY</a:t>
            </a:r>
            <a:endParaRPr lang="en-US" sz="1400" dirty="0"/>
          </a:p>
        </p:txBody>
      </p:sp>
      <p:sp>
        <p:nvSpPr>
          <p:cNvPr id="25" name="Text 23"/>
          <p:cNvSpPr/>
          <p:nvPr/>
        </p:nvSpPr>
        <p:spPr>
          <a:xfrm>
            <a:off x="6144768" y="1874520"/>
            <a:ext cx="2468880" cy="274320"/>
          </a:xfrm>
          <a:prstGeom prst="rect">
            <a:avLst/>
          </a:prstGeom>
          <a:noFill/>
          <a:ln/>
        </p:spPr>
        <p:txBody>
          <a:bodyPr wrap="square" rtlCol="0" anchor="ctr"/>
          <a:lstStyle/>
          <a:p>
            <a:pPr indent="0" marL="0">
              <a:buNone/>
            </a:pPr>
            <a:r>
              <a:rPr lang="en-US" sz="1000" b="1" dirty="0">
                <a:solidFill>
                  <a:srgbClr val="CADCFC"/>
                </a:solidFill>
                <a:latin typeface="Calibri" pitchFamily="34" charset="0"/>
                <a:ea typeface="Calibri" pitchFamily="34" charset="-122"/>
                <a:cs typeface="Calibri" pitchFamily="34" charset="-120"/>
              </a:rPr>
              <a:t>Issue:</a:t>
            </a:r>
            <a:endParaRPr lang="en-US" sz="1000" dirty="0"/>
          </a:p>
        </p:txBody>
      </p:sp>
      <p:sp>
        <p:nvSpPr>
          <p:cNvPr id="26" name="Text 24"/>
          <p:cNvSpPr/>
          <p:nvPr/>
        </p:nvSpPr>
        <p:spPr>
          <a:xfrm>
            <a:off x="6144768" y="2121408"/>
            <a:ext cx="2468880" cy="77724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Overtime employees: 30.5% attrition. JD-R model: demand without resources = health impairment.</a:t>
            </a:r>
            <a:endParaRPr lang="en-US" sz="1000" dirty="0"/>
          </a:p>
        </p:txBody>
      </p:sp>
      <p:sp>
        <p:nvSpPr>
          <p:cNvPr id="27" name="Text 25"/>
          <p:cNvSpPr/>
          <p:nvPr/>
        </p:nvSpPr>
        <p:spPr>
          <a:xfrm>
            <a:off x="6144768" y="2944368"/>
            <a:ext cx="2468880" cy="274320"/>
          </a:xfrm>
          <a:prstGeom prst="rect">
            <a:avLst/>
          </a:prstGeom>
          <a:noFill/>
          <a:ln/>
        </p:spPr>
        <p:txBody>
          <a:bodyPr wrap="square" rtlCol="0" anchor="ctr"/>
          <a:lstStyle/>
          <a:p>
            <a:pPr indent="0" marL="0">
              <a:buNone/>
            </a:pPr>
            <a:r>
              <a:rPr lang="en-US" sz="1000" b="1" dirty="0">
                <a:solidFill>
                  <a:srgbClr val="CADCFC"/>
                </a:solidFill>
                <a:latin typeface="Calibri" pitchFamily="34" charset="0"/>
                <a:ea typeface="Calibri" pitchFamily="34" charset="-122"/>
                <a:cs typeface="Calibri" pitchFamily="34" charset="-120"/>
              </a:rPr>
              <a:t>Intervention:</a:t>
            </a:r>
            <a:endParaRPr lang="en-US" sz="1000" dirty="0"/>
          </a:p>
        </p:txBody>
      </p:sp>
      <p:sp>
        <p:nvSpPr>
          <p:cNvPr id="28" name="Text 26"/>
          <p:cNvSpPr/>
          <p:nvPr/>
        </p:nvSpPr>
        <p:spPr>
          <a:xfrm>
            <a:off x="6144768" y="3182112"/>
            <a:ext cx="2468880" cy="777240"/>
          </a:xfrm>
          <a:prstGeom prst="rect">
            <a:avLst/>
          </a:prstGeom>
          <a:noFill/>
          <a:ln/>
        </p:spPr>
        <p:txBody>
          <a:bodyPr wrap="square" rtlCol="0" anchor="t"/>
          <a:lstStyle/>
          <a:p>
            <a:pPr indent="0" marL="0">
              <a:buNone/>
            </a:pPr>
            <a:r>
              <a:rPr lang="en-US" sz="1000" dirty="0">
                <a:solidFill>
                  <a:srgbClr val="FFFFFF"/>
                </a:solidFill>
                <a:latin typeface="Calibri" pitchFamily="34" charset="0"/>
                <a:ea typeface="Calibri" pitchFamily="34" charset="-122"/>
                <a:cs typeface="Calibri" pitchFamily="34" charset="-120"/>
              </a:rPr>
              <a:t>Overtime Red Flag: any team &gt;15% for 2 months triggers workload review + flexible work options.</a:t>
            </a:r>
            <a:endParaRPr lang="en-US" sz="1000" dirty="0"/>
          </a:p>
        </p:txBody>
      </p:sp>
      <p:sp>
        <p:nvSpPr>
          <p:cNvPr id="29" name="Text 27"/>
          <p:cNvSpPr/>
          <p:nvPr/>
        </p:nvSpPr>
        <p:spPr>
          <a:xfrm>
            <a:off x="6144768" y="4005072"/>
            <a:ext cx="2468880" cy="228600"/>
          </a:xfrm>
          <a:prstGeom prst="rect">
            <a:avLst/>
          </a:prstGeom>
          <a:noFill/>
          <a:ln/>
        </p:spPr>
        <p:txBody>
          <a:bodyPr wrap="square" rtlCol="0" anchor="ctr"/>
          <a:lstStyle/>
          <a:p>
            <a:pPr indent="0" marL="0">
              <a:buNone/>
            </a:pPr>
            <a:r>
              <a:rPr lang="en-US" sz="900" b="1" dirty="0">
                <a:solidFill>
                  <a:srgbClr val="F4A261"/>
                </a:solidFill>
                <a:latin typeface="Calibri" pitchFamily="34" charset="0"/>
                <a:ea typeface="Calibri" pitchFamily="34" charset="-122"/>
                <a:cs typeface="Calibri" pitchFamily="34" charset="-120"/>
              </a:rPr>
              <a:t>Why it works:</a:t>
            </a:r>
            <a:endParaRPr lang="en-US" sz="900" dirty="0"/>
          </a:p>
        </p:txBody>
      </p:sp>
      <p:sp>
        <p:nvSpPr>
          <p:cNvPr id="30" name="Text 28"/>
          <p:cNvSpPr/>
          <p:nvPr/>
        </p:nvSpPr>
        <p:spPr>
          <a:xfrm>
            <a:off x="6144768" y="4206240"/>
            <a:ext cx="2468880" cy="411480"/>
          </a:xfrm>
          <a:prstGeom prst="rect">
            <a:avLst/>
          </a:prstGeom>
          <a:noFill/>
          <a:ln/>
        </p:spPr>
        <p:txBody>
          <a:bodyPr wrap="square" rtlCol="0" anchor="t"/>
          <a:lstStyle/>
          <a:p>
            <a:pPr indent="0" marL="0">
              <a:buNone/>
            </a:pPr>
            <a:r>
              <a:rPr lang="en-US" sz="900" dirty="0">
                <a:solidFill>
                  <a:srgbClr val="CADCFC"/>
                </a:solidFill>
                <a:latin typeface="Calibri" pitchFamily="34" charset="0"/>
                <a:ea typeface="Calibri" pitchFamily="34" charset="-122"/>
                <a:cs typeface="Calibri" pitchFamily="34" charset="-120"/>
              </a:rPr>
              <a:t>The 3× attrition gap is not random — it reflects failure to govern workload intensity.</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Business Impact &amp; ROI</a:t>
            </a:r>
            <a:endParaRPr lang="en-US" sz="2600" dirty="0"/>
          </a:p>
        </p:txBody>
      </p:sp>
      <p:sp>
        <p:nvSpPr>
          <p:cNvPr id="3" name="Shape 1"/>
          <p:cNvSpPr/>
          <p:nvPr/>
        </p:nvSpPr>
        <p:spPr>
          <a:xfrm>
            <a:off x="0" y="0"/>
            <a:ext cx="109728" cy="5143500"/>
          </a:xfrm>
          <a:prstGeom prst="rect">
            <a:avLst/>
          </a:prstGeom>
          <a:solidFill>
            <a:srgbClr val="1E2761"/>
          </a:solidFill>
          <a:ln w="12700">
            <a:solidFill>
              <a:srgbClr val="1E2761"/>
            </a:solidFill>
            <a:prstDash val="solid"/>
          </a:ln>
        </p:spPr>
      </p:sp>
      <p:sp>
        <p:nvSpPr>
          <p:cNvPr id="4" name="Shape 2"/>
          <p:cNvSpPr/>
          <p:nvPr/>
        </p:nvSpPr>
        <p:spPr>
          <a:xfrm>
            <a:off x="365760" y="1005840"/>
            <a:ext cx="8412480" cy="1188720"/>
          </a:xfrm>
          <a:prstGeom prst="rect">
            <a:avLst/>
          </a:prstGeom>
          <a:solidFill>
            <a:srgbClr val="F0F4FF"/>
          </a:solidFill>
          <a:ln w="12700">
            <a:solidFill>
              <a:srgbClr val="CADCFC"/>
            </a:solidFill>
            <a:prstDash val="solid"/>
          </a:ln>
        </p:spPr>
      </p:sp>
      <p:sp>
        <p:nvSpPr>
          <p:cNvPr id="5" name="Text 3"/>
          <p:cNvSpPr/>
          <p:nvPr/>
        </p:nvSpPr>
        <p:spPr>
          <a:xfrm>
            <a:off x="457200" y="1097280"/>
            <a:ext cx="731520" cy="82296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6" name="Text 4"/>
          <p:cNvSpPr/>
          <p:nvPr/>
        </p:nvSpPr>
        <p:spPr>
          <a:xfrm>
            <a:off x="1280160" y="1097280"/>
            <a:ext cx="7132320" cy="347472"/>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Turnover Cost Reduction</a:t>
            </a:r>
            <a:endParaRPr lang="en-US" sz="1300" dirty="0"/>
          </a:p>
        </p:txBody>
      </p:sp>
      <p:sp>
        <p:nvSpPr>
          <p:cNvPr id="7" name="Text 5"/>
          <p:cNvSpPr/>
          <p:nvPr/>
        </p:nvSpPr>
        <p:spPr>
          <a:xfrm>
            <a:off x="1280160" y="1444752"/>
            <a:ext cx="7132320" cy="658368"/>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Replacing a Sales Rep costs 1.5–2× annual salary (SHRM, 2022). Reducing Sales Rep attrition from 39.8% → 20% across 50 reps = 10 fewer departures/year → six-figure savings.</a:t>
            </a:r>
            <a:endParaRPr lang="en-US" sz="1100" dirty="0"/>
          </a:p>
        </p:txBody>
      </p:sp>
      <p:sp>
        <p:nvSpPr>
          <p:cNvPr id="8" name="Shape 6"/>
          <p:cNvSpPr/>
          <p:nvPr/>
        </p:nvSpPr>
        <p:spPr>
          <a:xfrm>
            <a:off x="365760" y="2331720"/>
            <a:ext cx="8412480" cy="1188720"/>
          </a:xfrm>
          <a:prstGeom prst="rect">
            <a:avLst/>
          </a:prstGeom>
          <a:solidFill>
            <a:srgbClr val="F0F4FF"/>
          </a:solidFill>
          <a:ln w="12700">
            <a:solidFill>
              <a:srgbClr val="CADCFC"/>
            </a:solidFill>
            <a:prstDash val="solid"/>
          </a:ln>
        </p:spPr>
      </p:sp>
      <p:sp>
        <p:nvSpPr>
          <p:cNvPr id="9" name="Text 7"/>
          <p:cNvSpPr/>
          <p:nvPr/>
        </p:nvSpPr>
        <p:spPr>
          <a:xfrm>
            <a:off x="457200" y="2423160"/>
            <a:ext cx="731520" cy="82296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10" name="Text 8"/>
          <p:cNvSpPr/>
          <p:nvPr/>
        </p:nvSpPr>
        <p:spPr>
          <a:xfrm>
            <a:off x="1280160" y="2423160"/>
            <a:ext cx="7132320" cy="347472"/>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Operational Continuity</a:t>
            </a:r>
            <a:endParaRPr lang="en-US" sz="1300" dirty="0"/>
          </a:p>
        </p:txBody>
      </p:sp>
      <p:sp>
        <p:nvSpPr>
          <p:cNvPr id="11" name="Text 9"/>
          <p:cNvSpPr/>
          <p:nvPr/>
        </p:nvSpPr>
        <p:spPr>
          <a:xfrm>
            <a:off x="1280160" y="2770632"/>
            <a:ext cx="7132320" cy="658368"/>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Formalizing Relationship Handover protocols when managers change directly targets the 32.3% Year-0 attrition spike — at near-zero operational cost.</a:t>
            </a:r>
            <a:endParaRPr lang="en-US" sz="1100" dirty="0"/>
          </a:p>
        </p:txBody>
      </p:sp>
      <p:sp>
        <p:nvSpPr>
          <p:cNvPr id="12" name="Shape 10"/>
          <p:cNvSpPr/>
          <p:nvPr/>
        </p:nvSpPr>
        <p:spPr>
          <a:xfrm>
            <a:off x="365760" y="3657600"/>
            <a:ext cx="8412480" cy="1188720"/>
          </a:xfrm>
          <a:prstGeom prst="rect">
            <a:avLst/>
          </a:prstGeom>
          <a:solidFill>
            <a:srgbClr val="F0F4FF"/>
          </a:solidFill>
          <a:ln w="12700">
            <a:solidFill>
              <a:srgbClr val="CADCFC"/>
            </a:solidFill>
            <a:prstDash val="solid"/>
          </a:ln>
        </p:spPr>
      </p:sp>
      <p:sp>
        <p:nvSpPr>
          <p:cNvPr id="13" name="Text 11"/>
          <p:cNvSpPr/>
          <p:nvPr/>
        </p:nvSpPr>
        <p:spPr>
          <a:xfrm>
            <a:off x="457200" y="3749040"/>
            <a:ext cx="731520" cy="82296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14" name="Text 12"/>
          <p:cNvSpPr/>
          <p:nvPr/>
        </p:nvSpPr>
        <p:spPr>
          <a:xfrm>
            <a:off x="1280160" y="3749040"/>
            <a:ext cx="7132320" cy="347472"/>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Strategic Credibility</a:t>
            </a:r>
            <a:endParaRPr lang="en-US" sz="1300" dirty="0"/>
          </a:p>
        </p:txBody>
      </p:sp>
      <p:sp>
        <p:nvSpPr>
          <p:cNvPr id="15" name="Text 13"/>
          <p:cNvSpPr/>
          <p:nvPr/>
        </p:nvSpPr>
        <p:spPr>
          <a:xfrm>
            <a:off x="1280160" y="4096512"/>
            <a:ext cx="7132320" cy="658368"/>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Moves HR from reactive 'firefighting' to proactive risk stratification. From 'why did this person leave?' to 'who is at risk and what is the intervention cost?'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indent="0" marL="0">
              <a:buNone/>
            </a:pPr>
            <a:r>
              <a:rPr lang="en-US" sz="2600" b="1" dirty="0">
                <a:solidFill>
                  <a:srgbClr val="1E2761"/>
                </a:solidFill>
                <a:latin typeface="Calibri" pitchFamily="34" charset="0"/>
                <a:ea typeface="Calibri" pitchFamily="34" charset="-122"/>
                <a:cs typeface="Calibri" pitchFamily="34" charset="-120"/>
              </a:rPr>
              <a:t>Future Scope: Advanced Diagnostics</a:t>
            </a:r>
            <a:endParaRPr lang="en-US" sz="2600" dirty="0"/>
          </a:p>
        </p:txBody>
      </p:sp>
      <p:sp>
        <p:nvSpPr>
          <p:cNvPr id="3" name="Shape 1"/>
          <p:cNvSpPr/>
          <p:nvPr/>
        </p:nvSpPr>
        <p:spPr>
          <a:xfrm>
            <a:off x="0" y="0"/>
            <a:ext cx="109728" cy="5143500"/>
          </a:xfrm>
          <a:prstGeom prst="rect">
            <a:avLst/>
          </a:prstGeom>
          <a:solidFill>
            <a:srgbClr val="1E2761"/>
          </a:solidFill>
          <a:ln w="12700">
            <a:solidFill>
              <a:srgbClr val="1E2761"/>
            </a:solidFill>
            <a:prstDash val="solid"/>
          </a:ln>
        </p:spPr>
      </p:sp>
      <p:sp>
        <p:nvSpPr>
          <p:cNvPr id="4" name="Shape 2"/>
          <p:cNvSpPr/>
          <p:nvPr/>
        </p:nvSpPr>
        <p:spPr>
          <a:xfrm>
            <a:off x="365760" y="960120"/>
            <a:ext cx="640080" cy="1188720"/>
          </a:xfrm>
          <a:prstGeom prst="rect">
            <a:avLst/>
          </a:prstGeom>
          <a:solidFill>
            <a:srgbClr val="1E2761"/>
          </a:solidFill>
          <a:ln w="12700">
            <a:solidFill>
              <a:srgbClr val="1E2761"/>
            </a:solidFill>
            <a:prstDash val="solid"/>
          </a:ln>
        </p:spPr>
      </p:sp>
      <p:sp>
        <p:nvSpPr>
          <p:cNvPr id="5" name="Text 3"/>
          <p:cNvSpPr/>
          <p:nvPr/>
        </p:nvSpPr>
        <p:spPr>
          <a:xfrm>
            <a:off x="365760" y="1234440"/>
            <a:ext cx="64008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6" name="Shape 4"/>
          <p:cNvSpPr/>
          <p:nvPr/>
        </p:nvSpPr>
        <p:spPr>
          <a:xfrm>
            <a:off x="1097280" y="960120"/>
            <a:ext cx="7680960" cy="1188720"/>
          </a:xfrm>
          <a:prstGeom prst="rect">
            <a:avLst/>
          </a:prstGeom>
          <a:solidFill>
            <a:srgbClr val="F0F4FF"/>
          </a:solidFill>
          <a:ln w="12700">
            <a:solidFill>
              <a:srgbClr val="CADCFC"/>
            </a:solidFill>
            <a:prstDash val="solid"/>
          </a:ln>
        </p:spPr>
      </p:sp>
      <p:sp>
        <p:nvSpPr>
          <p:cNvPr id="7" name="Text 5"/>
          <p:cNvSpPr/>
          <p:nvPr/>
        </p:nvSpPr>
        <p:spPr>
          <a:xfrm>
            <a:off x="1234440" y="1051560"/>
            <a:ext cx="7406640" cy="347472"/>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Predictive Flight Risk Modeling (ML)</a:t>
            </a:r>
            <a:endParaRPr lang="en-US" sz="1300" dirty="0"/>
          </a:p>
        </p:txBody>
      </p:sp>
      <p:sp>
        <p:nvSpPr>
          <p:cNvPr id="8" name="Text 6"/>
          <p:cNvSpPr/>
          <p:nvPr/>
        </p:nvSpPr>
        <p:spPr>
          <a:xfrm>
            <a:off x="1234440" y="1399032"/>
            <a:ext cx="7406640" cy="685800"/>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A Logistic Regression or Random Forest classifier trained on the current variable set would produce individual-level 'Probability of Exit' scores — converting population-level insights into an actionable watchlist for targeted retention conversations.</a:t>
            </a:r>
            <a:endParaRPr lang="en-US" sz="1100" dirty="0"/>
          </a:p>
        </p:txBody>
      </p:sp>
      <p:sp>
        <p:nvSpPr>
          <p:cNvPr id="9" name="Shape 7"/>
          <p:cNvSpPr/>
          <p:nvPr/>
        </p:nvSpPr>
        <p:spPr>
          <a:xfrm>
            <a:off x="365760" y="2286000"/>
            <a:ext cx="640080" cy="1188720"/>
          </a:xfrm>
          <a:prstGeom prst="rect">
            <a:avLst/>
          </a:prstGeom>
          <a:solidFill>
            <a:srgbClr val="1E2761"/>
          </a:solidFill>
          <a:ln w="12700">
            <a:solidFill>
              <a:srgbClr val="1E2761"/>
            </a:solidFill>
            <a:prstDash val="solid"/>
          </a:ln>
        </p:spPr>
      </p:sp>
      <p:sp>
        <p:nvSpPr>
          <p:cNvPr id="10" name="Text 8"/>
          <p:cNvSpPr/>
          <p:nvPr/>
        </p:nvSpPr>
        <p:spPr>
          <a:xfrm>
            <a:off x="365760" y="2560320"/>
            <a:ext cx="64008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1" name="Shape 9"/>
          <p:cNvSpPr/>
          <p:nvPr/>
        </p:nvSpPr>
        <p:spPr>
          <a:xfrm>
            <a:off x="1097280" y="2286000"/>
            <a:ext cx="7680960" cy="1188720"/>
          </a:xfrm>
          <a:prstGeom prst="rect">
            <a:avLst/>
          </a:prstGeom>
          <a:solidFill>
            <a:srgbClr val="F0F4FF"/>
          </a:solidFill>
          <a:ln w="12700">
            <a:solidFill>
              <a:srgbClr val="CADCFC"/>
            </a:solidFill>
            <a:prstDash val="solid"/>
          </a:ln>
        </p:spPr>
      </p:sp>
      <p:sp>
        <p:nvSpPr>
          <p:cNvPr id="12" name="Text 10"/>
          <p:cNvSpPr/>
          <p:nvPr/>
        </p:nvSpPr>
        <p:spPr>
          <a:xfrm>
            <a:off x="1234440" y="2377440"/>
            <a:ext cx="7406640" cy="347472"/>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Sentiment Analysis on Exit Interviews (NLP)</a:t>
            </a:r>
            <a:endParaRPr lang="en-US" sz="1300" dirty="0"/>
          </a:p>
        </p:txBody>
      </p:sp>
      <p:sp>
        <p:nvSpPr>
          <p:cNvPr id="13" name="Text 11"/>
          <p:cNvSpPr/>
          <p:nvPr/>
        </p:nvSpPr>
        <p:spPr>
          <a:xfrm>
            <a:off x="1234440" y="2724912"/>
            <a:ext cx="7406640" cy="685800"/>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Structured survey data captures what employees report. NLP on free-text exit responses captures what they mean — specifically for the Sales population, identifying whether dissatisfaction is driven by management, compensation, or career opportunity.</a:t>
            </a:r>
            <a:endParaRPr lang="en-US" sz="1100" dirty="0"/>
          </a:p>
        </p:txBody>
      </p:sp>
      <p:sp>
        <p:nvSpPr>
          <p:cNvPr id="14" name="Shape 12"/>
          <p:cNvSpPr/>
          <p:nvPr/>
        </p:nvSpPr>
        <p:spPr>
          <a:xfrm>
            <a:off x="365760" y="3611880"/>
            <a:ext cx="640080" cy="1188720"/>
          </a:xfrm>
          <a:prstGeom prst="rect">
            <a:avLst/>
          </a:prstGeom>
          <a:solidFill>
            <a:srgbClr val="1E2761"/>
          </a:solidFill>
          <a:ln w="12700">
            <a:solidFill>
              <a:srgbClr val="1E2761"/>
            </a:solidFill>
            <a:prstDash val="solid"/>
          </a:ln>
        </p:spPr>
      </p:sp>
      <p:sp>
        <p:nvSpPr>
          <p:cNvPr id="15" name="Text 13"/>
          <p:cNvSpPr/>
          <p:nvPr/>
        </p:nvSpPr>
        <p:spPr>
          <a:xfrm>
            <a:off x="365760" y="3886200"/>
            <a:ext cx="640080" cy="54864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16" name="Shape 14"/>
          <p:cNvSpPr/>
          <p:nvPr/>
        </p:nvSpPr>
        <p:spPr>
          <a:xfrm>
            <a:off x="1097280" y="3611880"/>
            <a:ext cx="7680960" cy="1188720"/>
          </a:xfrm>
          <a:prstGeom prst="rect">
            <a:avLst/>
          </a:prstGeom>
          <a:solidFill>
            <a:srgbClr val="F0F4FF"/>
          </a:solidFill>
          <a:ln w="12700">
            <a:solidFill>
              <a:srgbClr val="CADCFC"/>
            </a:solidFill>
            <a:prstDash val="solid"/>
          </a:ln>
        </p:spPr>
      </p:sp>
      <p:sp>
        <p:nvSpPr>
          <p:cNvPr id="17" name="Text 15"/>
          <p:cNvSpPr/>
          <p:nvPr/>
        </p:nvSpPr>
        <p:spPr>
          <a:xfrm>
            <a:off x="1234440" y="3703320"/>
            <a:ext cx="7406640" cy="347472"/>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Work-Life Balance Tipping Point Analysis</a:t>
            </a:r>
            <a:endParaRPr lang="en-US" sz="1300" dirty="0"/>
          </a:p>
        </p:txBody>
      </p:sp>
      <p:sp>
        <p:nvSpPr>
          <p:cNvPr id="18" name="Text 16"/>
          <p:cNvSpPr/>
          <p:nvPr/>
        </p:nvSpPr>
        <p:spPr>
          <a:xfrm>
            <a:off x="1234440" y="4050792"/>
            <a:ext cx="7406640" cy="685800"/>
          </a:xfrm>
          <a:prstGeom prst="rect">
            <a:avLst/>
          </a:prstGeom>
          <a:noFill/>
          <a:ln/>
        </p:spPr>
        <p:txBody>
          <a:bodyPr wrap="square" rtlCol="0" anchor="t"/>
          <a:lstStyle/>
          <a:p>
            <a:pPr indent="0" marL="0">
              <a:buNone/>
            </a:pPr>
            <a:r>
              <a:rPr lang="en-US" sz="1100" dirty="0">
                <a:solidFill>
                  <a:srgbClr val="334155"/>
                </a:solidFill>
                <a:latin typeface="Calibri" pitchFamily="34" charset="0"/>
                <a:ea typeface="Calibri" pitchFamily="34" charset="-122"/>
                <a:cs typeface="Calibri" pitchFamily="34" charset="-120"/>
              </a:rPr>
              <a:t>Integrating internal wellness survey data with overtime and commute variables would identify the precise demand threshold at which psychological withdrawal begins — enabling intervention before the resignation decision is made.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731520"/>
            <a:ext cx="8046720" cy="201168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From Counting Exits</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to Predicting Them.</a:t>
            </a:r>
            <a:endParaRPr lang="en-US" sz="3600" dirty="0"/>
          </a:p>
        </p:txBody>
      </p:sp>
      <p:sp>
        <p:nvSpPr>
          <p:cNvPr id="3" name="Shape 1"/>
          <p:cNvSpPr/>
          <p:nvPr/>
        </p:nvSpPr>
        <p:spPr>
          <a:xfrm>
            <a:off x="548640" y="2697480"/>
            <a:ext cx="1828800" cy="54864"/>
          </a:xfrm>
          <a:prstGeom prst="rect">
            <a:avLst/>
          </a:prstGeom>
          <a:solidFill>
            <a:srgbClr val="F4A261"/>
          </a:solidFill>
          <a:ln w="12700">
            <a:solidFill>
              <a:srgbClr val="F4A261"/>
            </a:solidFill>
            <a:prstDash val="solid"/>
          </a:ln>
        </p:spPr>
      </p:sp>
      <p:sp>
        <p:nvSpPr>
          <p:cNvPr id="4" name="Text 2"/>
          <p:cNvSpPr/>
          <p:nvPr/>
        </p:nvSpPr>
        <p:spPr>
          <a:xfrm>
            <a:off x="548640" y="2880360"/>
            <a:ext cx="8046720" cy="82296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This analysis moves HR from reactive reporting to evidence-based risk stratification — grounding every intervention in behavioral science and verified data.</a:t>
            </a:r>
            <a:endParaRPr lang="en-US" sz="1400" dirty="0"/>
          </a:p>
        </p:txBody>
      </p:sp>
      <p:sp>
        <p:nvSpPr>
          <p:cNvPr id="5" name="Text 3"/>
          <p:cNvSpPr/>
          <p:nvPr/>
        </p:nvSpPr>
        <p:spPr>
          <a:xfrm>
            <a:off x="548640" y="3931920"/>
            <a:ext cx="45720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Lorenzo Di Salvatore</a:t>
            </a:r>
            <a:endParaRPr lang="en-US" sz="1400" dirty="0"/>
          </a:p>
        </p:txBody>
      </p:sp>
      <p:sp>
        <p:nvSpPr>
          <p:cNvPr id="6" name="Text 4"/>
          <p:cNvSpPr/>
          <p:nvPr/>
        </p:nvSpPr>
        <p:spPr>
          <a:xfrm>
            <a:off x="548640" y="4315968"/>
            <a:ext cx="8046720" cy="274320"/>
          </a:xfrm>
          <a:prstGeom prst="rect">
            <a:avLst/>
          </a:prstGeom>
          <a:noFill/>
          <a:ln/>
        </p:spPr>
        <p:txBody>
          <a:bodyPr wrap="square" rtlCol="0" anchor="ctr"/>
          <a:lstStyle/>
          <a:p>
            <a:pPr indent="0" marL="0">
              <a:buNone/>
            </a:pPr>
            <a:r>
              <a:rPr lang="en-US" sz="1000" dirty="0">
                <a:solidFill>
                  <a:srgbClr val="8899BB"/>
                </a:solidFill>
                <a:latin typeface="Calibri" pitchFamily="34" charset="0"/>
                <a:ea typeface="Calibri" pitchFamily="34" charset="-122"/>
                <a:cs typeface="Calibri" pitchFamily="34" charset="-120"/>
              </a:rPr>
              <a:t>LinkedIn: linkedin.com/in/lorenzo-di-salvatore-psico  ·  GitHub: github.com/LoreBear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HR Analytics: Decoding the Human Side of Attrition</dc:title>
  <dc:subject>PptxGenJS Presentation</dc:subject>
  <dc:creator>Lorenzo Di Salvatore</dc:creator>
  <cp:lastModifiedBy>Lorenzo Di Salvatore</cp:lastModifiedBy>
  <cp:revision>1</cp:revision>
  <dcterms:created xsi:type="dcterms:W3CDTF">2026-04-22T07:20:36Z</dcterms:created>
  <dcterms:modified xsi:type="dcterms:W3CDTF">2026-04-22T07:20:36Z</dcterms:modified>
</cp:coreProperties>
</file>